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1" d="100"/>
          <a:sy n="141" d="100"/>
        </p:scale>
        <p:origin x="101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Highest sustainable target TPS</c:v>
          </c:tx>
          <c:spPr>
            <a:solidFill>
              <a:srgbClr val="3D8DFF"/>
            </a:solidFill>
          </c:spPr>
          <c:invertIfNegative val="1"/>
          <c:dPt>
            <c:idx val="0"/>
            <c:invertIfNegative val="0"/>
            <c:bubble3D val="0"/>
            <c:spPr>
              <a:solidFill>
                <a:srgbClr val="B8BCC4"/>
              </a:solidFill>
            </c:spPr>
            <c:extLst>
              <c:ext xmlns:c16="http://schemas.microsoft.com/office/drawing/2014/chart" uri="{C3380CC4-5D6E-409C-BE32-E72D297353CC}">
                <c16:uniqueId val="{00000001-EA40-41A2-BAAD-71479882B8B7}"/>
              </c:ext>
            </c:extLst>
          </c:dPt>
          <c:dPt>
            <c:idx val="1"/>
            <c:invertIfNegative val="0"/>
            <c:bubble3D val="0"/>
            <c:spPr>
              <a:solidFill>
                <a:srgbClr val="6DCBF4"/>
              </a:solidFill>
            </c:spPr>
            <c:extLst>
              <c:ext xmlns:c16="http://schemas.microsoft.com/office/drawing/2014/chart" uri="{C3380CC4-5D6E-409C-BE32-E72D297353CC}">
                <c16:uniqueId val="{00000003-EA40-41A2-BAAD-71479882B8B7}"/>
              </c:ext>
            </c:extLst>
          </c:dPt>
          <c:dPt>
            <c:idx val="2"/>
            <c:invertIfNegative val="0"/>
            <c:bubble3D val="0"/>
            <c:spPr>
              <a:solidFill>
                <a:srgbClr val="65B5EA"/>
              </a:solidFill>
            </c:spPr>
            <c:extLst>
              <c:ext xmlns:c16="http://schemas.microsoft.com/office/drawing/2014/chart" uri="{C3380CC4-5D6E-409C-BE32-E72D297353CC}">
                <c16:uniqueId val="{00000005-EA40-41A2-BAAD-71479882B8B7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EA40-41A2-BAAD-71479882B8B7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350" b="1">
                    <a:solidFill>
                      <a:srgbClr val="111111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4"/>
              <c:pt idx="0">
                <c:v>C0 · MySQL</c:v>
              </c:pt>
              <c:pt idx="1">
                <c:v>C1 · Kafka</c:v>
              </c:pt>
              <c:pt idx="2">
                <c:v>C2 · Memory</c:v>
              </c:pt>
              <c:pt idx="3">
                <c:v>C3 · Redis</c:v>
              </c:pt>
            </c:strLit>
          </c:cat>
          <c:val>
            <c:numLit>
              <c:formatCode>General</c:formatCode>
              <c:ptCount val="4"/>
              <c:pt idx="0">
                <c:v>25</c:v>
              </c:pt>
              <c:pt idx="1">
                <c:v>30</c:v>
              </c:pt>
              <c:pt idx="2">
                <c:v>35</c:v>
              </c:pt>
              <c:pt idx="3">
                <c:v>55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8-EA40-41A2-BAAD-71479882B8B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B8BCC4"/>
            </a:solidFill>
            <a:prstDash val="solid"/>
          </a:ln>
        </c:spPr>
        <c:txPr>
          <a:bodyPr anchorCtr="1"/>
          <a:lstStyle/>
          <a:p>
            <a:pPr>
              <a:defRPr sz="1125">
                <a:solidFill>
                  <a:srgbClr val="5D636B"/>
                </a:solidFill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60"/>
          <c:min val="0"/>
        </c:scaling>
        <c:delete val="0"/>
        <c:axPos val="l"/>
        <c:majorGridlines>
          <c:spPr>
            <a:ln w="9525">
              <a:solidFill>
                <a:srgbClr val="DDDFE3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r>
                  <a:rPr lang="en-MY" sz="1125" b="1">
                    <a:solidFill>
                      <a:srgbClr val="5D636B"/>
                    </a:solidFill>
                  </a:rPr>
                  <a:t>TPS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5D636B"/>
                </a:solidFill>
              </a:defRPr>
            </a:pPr>
            <a:endParaRPr lang="en-US"/>
          </a:p>
        </c:txPr>
        <c:crossAx val="48650112"/>
        <c:crosses val="autoZero"/>
        <c:crossBetween val="between"/>
        <c:majorUnit val="10"/>
      </c:valAx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Introduce the research topic, the Exchange Lab testbed, and the headline result. Explain that the reported increase is based on completed and verified transactions, not accepted requests alone.</a:t>
            </a:r>
          </a:p>
          <a:p>
            <a:endParaRPr/>
          </a:p>
          <a:p>
            <a:r>
              <a:t>[Sources]</a:t>
            </a:r>
          </a:p>
          <a:p>
            <a:r>
              <a:t>- assignment/workspace/asg-2/04-project-proposal.md</a:t>
            </a:r>
          </a:p>
          <a:p>
            <a:r>
              <a:t>- assignment/workspace/asg-2/05-presentation-slide-outline.md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that high-concurrency systems offer many possible performance techniques at the application, messaging, memory, cache, database, and resource layers. Their effect depends on the system and workload, so the project establishes a baseline, applies selected techniques one at a time, and measures the verified TPS change. The project demonstrates an evidence-based evaluation approach; it does not attempt to catalogue every possible optimisation.</a:t>
            </a:r>
          </a:p>
          <a:p>
            <a:endParaRPr/>
          </a:p>
          <a:p>
            <a:r>
              <a:t>[Sources]</a:t>
            </a:r>
          </a:p>
          <a:p>
            <a:r>
              <a:t>- assignment/workspace/asg-2/04-project-proposal.md</a:t>
            </a:r>
          </a:p>
          <a:p>
            <a:r>
              <a:t>- assignment/workspace/asg-2/05-presentation-slide-outline.md</a:t>
            </a:r>
          </a:p>
          <a:p>
            <a:r>
              <a:t>- https://doi.org/10.1016/j.jss.2023.111879</a:t>
            </a:r>
          </a:p>
          <a:p>
            <a:r>
              <a:t>- https://doi.org/10.1016/j.jss.2024.112183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the research gap: techniques are often assessed separately, while a transaction-processing system succeeds or fails as a complete path. The project therefore controls the workload and retests end to end after each architectural change.</a:t>
            </a:r>
          </a:p>
          <a:p>
            <a:endParaRPr/>
          </a:p>
          <a:p>
            <a:r>
              <a:t>[Sources]</a:t>
            </a:r>
          </a:p>
          <a:p>
            <a:r>
              <a:t>- assignment/workspace/asg-2/04-project-proposal.md</a:t>
            </a:r>
          </a:p>
          <a:p>
            <a:r>
              <a:t>- https://doi.org/10.1016/j.jss.2023.111879</a:t>
            </a:r>
          </a:p>
          <a:p>
            <a:r>
              <a:t>- https://doi.org/10.1016/j.jss.2024.112183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State the questions directly. The aim is deliberately measurable: maximise sustainable TPS. The four objectives describe the evidence path from baseline to verified final result.</a:t>
            </a:r>
          </a:p>
          <a:p>
            <a:endParaRPr/>
          </a:p>
          <a:p>
            <a:r>
              <a:t>[Sources]</a:t>
            </a:r>
          </a:p>
          <a:p>
            <a:r>
              <a:t>- assignment/workspace/asg-2/04-project-proposal.md</a:t>
            </a:r>
          </a:p>
          <a:p>
            <a:r>
              <a:t>- assignment/workspace/asg-2/05-presentation-slide-outline.md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Briefly explain a limit order and the Exchange Lab flow. Emphasise that the research uses synthetic traders and balances; it is a testbed, not a commercial exchange.</a:t>
            </a:r>
          </a:p>
          <a:p>
            <a:endParaRPr/>
          </a:p>
          <a:p>
            <a:r>
              <a:t>[Sources]</a:t>
            </a:r>
          </a:p>
          <a:p>
            <a:r>
              <a:t>- assignment/workspace/asg-2/04-project-proposal.md</a:t>
            </a:r>
          </a:p>
          <a:p>
            <a:r>
              <a:t>- assignment/workspace/asg-2/05-presentation-slide-outline.md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Define target, accepted, and completed TPS. Explain that asynchronous configurations must complete at least 98% during the 30-second measurement window, then clear all remaining work and Kafka lag during the fixed drain.</a:t>
            </a:r>
          </a:p>
          <a:p>
            <a:endParaRPr/>
          </a:p>
          <a:p>
            <a:r>
              <a:t>[Sources]</a:t>
            </a:r>
          </a:p>
          <a:p>
            <a:r>
              <a:t>- assignment/workspace/asg-2/04-project-proposal.md</a:t>
            </a:r>
          </a:p>
          <a:p>
            <a:r>
              <a:t>- assignment/workspace/asg-2/05-presentation-slide-outline.md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from C0 to C3. Clarify that C1-C3 use the three-stage service architecture, while the added performance technique is the controlled difference at each stage.</a:t>
            </a:r>
          </a:p>
          <a:p>
            <a:endParaRPr/>
          </a:p>
          <a:p>
            <a:r>
              <a:t>[Sources]</a:t>
            </a:r>
          </a:p>
          <a:p>
            <a:r>
              <a:t>- assignment/workspace/asg-2/04-project-proposal.md</a:t>
            </a:r>
          </a:p>
          <a:p>
            <a:r>
              <a:t>- assignment/workspace/asg-2/05-presentation-slide-outline.md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the five-step protocol. The key control is a complete application restart and state reset before every rate, followed by Kafka partition assignment checks before load begins.</a:t>
            </a:r>
          </a:p>
          <a:p>
            <a:endParaRPr/>
          </a:p>
          <a:p>
            <a:r>
              <a:t>[Sources]</a:t>
            </a:r>
          </a:p>
          <a:p>
            <a:r>
              <a:t>- assignment/workspace/asg-2/04-project-proposal.md</a:t>
            </a:r>
          </a:p>
          <a:p>
            <a:r>
              <a:t>- assignment/workspace/asg-2/05-presentation-slide-outline.md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 the four sustainable boundaries. The primary comparison is highest passing target TPS; median completed values were 25.03, 30.00, 35.00, and 54.93 TPS respectively.</a:t>
            </a:r>
          </a:p>
          <a:p>
            <a:endParaRPr/>
          </a:p>
          <a:p>
            <a:r>
              <a:t>[Sources]</a:t>
            </a:r>
          </a:p>
          <a:p>
            <a:r>
              <a:t>- assignment/workspace/asg-2/04-project-proposal.md</a:t>
            </a:r>
          </a:p>
          <a:p>
            <a:r>
              <a:t>- assignment/workspace/asg-2/05-presentation-slide-outline.md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each nearest failed rate to justify the selected boundary. C0 failed correctness; C1 and C2 failed completion; C3 narrowly missed the 98% in-window threshold.</a:t>
            </a:r>
          </a:p>
          <a:p>
            <a:endParaRPr/>
          </a:p>
          <a:p>
            <a:r>
              <a:t>[Sources]</a:t>
            </a:r>
          </a:p>
          <a:p>
            <a:r>
              <a:t>- assignment/workspace/asg-2/04-project-proposal.md</a:t>
            </a:r>
          </a:p>
          <a:p>
            <a:r>
              <a:t>- assignment/workspace/asg-2/05-presentation-slide-outline.md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that the techniques did not remove all bottlenecks; they moved the limiting stage. Close with reliability controls and the scope limitation: the numerical limits apply to Exchange Lab in this environment.</a:t>
            </a:r>
          </a:p>
          <a:p>
            <a:endParaRPr/>
          </a:p>
          <a:p>
            <a:r>
              <a:t>[Sources]</a:t>
            </a:r>
          </a:p>
          <a:p>
            <a:r>
              <a:t>- assignment/workspace/asg-2/04-project-proposal.md</a:t>
            </a:r>
          </a:p>
          <a:p>
            <a:r>
              <a:t>- assignment/workspace/asg-2/05-presentation-slide-outline.md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Summarise the six-week sequence: update literature and prepare the system, establish the baseline, implement and test the staged techniques, complete final evaluation, and submit the report.</a:t>
            </a:r>
          </a:p>
          <a:p>
            <a:endParaRPr/>
          </a:p>
          <a:p>
            <a:r>
              <a:t>[Sources]</a:t>
            </a:r>
          </a:p>
          <a:p>
            <a:r>
              <a:t>- assignment/workspace/asg-2/04-project-proposal.md</a:t>
            </a:r>
          </a:p>
          <a:p>
            <a:r>
              <a:t>- V:\base\exchange-platform\1-exchange-lab\assignment\workspace\asg-2\assets\research-plan-gantt.svg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Answer the three research questions explicitly and finish with the central lesson: performance improvements are valid only when the complete transaction path remains stable and correct.</a:t>
            </a:r>
          </a:p>
          <a:p>
            <a:endParaRPr/>
          </a:p>
          <a:p>
            <a:r>
              <a:t>[Sources]</a:t>
            </a:r>
          </a:p>
          <a:p>
            <a:r>
              <a:t>- assignment/workspace/asg-2/04-project-proposal.md</a:t>
            </a:r>
          </a:p>
          <a:p>
            <a:r>
              <a:t>- assignment/workspace/asg-2/05-presentation-slide-outline.md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9D82C13-0D17-478F-8F27-ACCD21C9DB86}"/>
              </a:ext>
            </a:extLst>
          </p:cNvPr>
          <p:cNvSpPr>
            <a:spLocks noGrp="1"/>
          </p:cNvSpPr>
          <p:nvPr/>
        </p:nvSpPr>
        <p:spPr>
          <a:xfrm>
            <a:off x="685800" y="5143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RESEARCH PROJECT PRESENTATION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829AA51-2A0B-473D-B9BD-9BF1BD1F1006}"/>
              </a:ext>
            </a:extLst>
          </p:cNvPr>
          <p:cNvSpPr>
            <a:spLocks noGrp="1"/>
          </p:cNvSpPr>
          <p:nvPr/>
        </p:nvSpPr>
        <p:spPr>
          <a:xfrm>
            <a:off x="685800" y="1123950"/>
            <a:ext cx="7429500" cy="2247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225" b="1">
                <a:solidFill>
                  <a:srgbClr val="111111"/>
                </a:solidFill>
              </a:defRPr>
            </a:pPr>
            <a:r>
              <a:rPr sz="3225" b="1" dirty="0">
                <a:solidFill>
                  <a:srgbClr val="111111"/>
                </a:solidFill>
              </a:rPr>
              <a:t>End-to-End Techniques</a:t>
            </a:r>
          </a:p>
          <a:p>
            <a:pPr algn="l">
              <a:buNone/>
              <a:defRPr sz="3225" b="1">
                <a:solidFill>
                  <a:srgbClr val="111111"/>
                </a:solidFill>
              </a:defRPr>
            </a:pPr>
            <a:r>
              <a:rPr sz="3225" b="1" dirty="0">
                <a:solidFill>
                  <a:srgbClr val="111111"/>
                </a:solidFill>
              </a:rPr>
              <a:t>for Improving Sustainable Throughput</a:t>
            </a:r>
          </a:p>
          <a:p>
            <a:pPr algn="l">
              <a:buNone/>
              <a:defRPr sz="3225" b="1">
                <a:solidFill>
                  <a:srgbClr val="111111"/>
                </a:solidFill>
              </a:defRPr>
            </a:pPr>
            <a:r>
              <a:rPr sz="3225" b="1">
                <a:solidFill>
                  <a:srgbClr val="111111"/>
                </a:solidFill>
              </a:rPr>
              <a:t>in High-Concurrency Java Microservices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73AD83BD-26B9-4DB7-A726-F6303DF82A7F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7143750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6EC9C7F-AF47-4282-9F89-44B80E39995B}"/>
              </a:ext>
            </a:extLst>
          </p:cNvPr>
          <p:cNvSpPr>
            <a:spLocks noGrp="1"/>
          </p:cNvSpPr>
          <p:nvPr/>
        </p:nvSpPr>
        <p:spPr>
          <a:xfrm>
            <a:off x="685800" y="3905250"/>
            <a:ext cx="4572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Lok Shang Ru  ·  TP054534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878C6A-9FB2-41E7-B6E8-C3267131B45C}"/>
              </a:ext>
            </a:extLst>
          </p:cNvPr>
          <p:cNvSpPr>
            <a:spLocks noGrp="1"/>
          </p:cNvSpPr>
          <p:nvPr/>
        </p:nvSpPr>
        <p:spPr>
          <a:xfrm>
            <a:off x="685800" y="4286250"/>
            <a:ext cx="581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5D636B"/>
                </a:solidFill>
              </a:defRPr>
            </a:pPr>
            <a:r>
              <a:rPr sz="1275" b="0">
                <a:solidFill>
                  <a:srgbClr val="5D636B"/>
                </a:solidFill>
              </a:rPr>
              <a:t>Master in Artificial Intelligence</a:t>
            </a:r>
          </a:p>
          <a:p>
            <a:pPr algn="l">
              <a:buNone/>
              <a:defRPr sz="1275" b="0">
                <a:solidFill>
                  <a:srgbClr val="5D636B"/>
                </a:solidFill>
              </a:defRPr>
            </a:pPr>
            <a:r>
              <a:rPr sz="1275" b="0">
                <a:solidFill>
                  <a:srgbClr val="5D636B"/>
                </a:solidFill>
              </a:rPr>
              <a:t>Research Methodology for Computing and Engineering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AEA637-2F09-4B92-B089-72E6DF5CE8F4}"/>
              </a:ext>
            </a:extLst>
          </p:cNvPr>
          <p:cNvSpPr>
            <a:spLocks noGrp="1"/>
          </p:cNvSpPr>
          <p:nvPr/>
        </p:nvSpPr>
        <p:spPr>
          <a:xfrm>
            <a:off x="685800" y="5219700"/>
            <a:ext cx="4953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5D636B"/>
                </a:solidFill>
              </a:defRPr>
            </a:pPr>
            <a:r>
              <a:rPr sz="1200" b="0">
                <a:solidFill>
                  <a:srgbClr val="5D636B"/>
                </a:solidFill>
              </a:rPr>
              <a:t>Supervisor: Dr. Maznah Mohd Zin</a:t>
            </a:r>
          </a:p>
          <a:p>
            <a:pPr algn="l">
              <a:buNone/>
              <a:defRPr sz="1200" b="0">
                <a:solidFill>
                  <a:srgbClr val="5D636B"/>
                </a:solidFill>
              </a:defRPr>
            </a:pPr>
            <a:r>
              <a:rPr sz="1200" b="0">
                <a:solidFill>
                  <a:srgbClr val="5D636B"/>
                </a:solidFill>
              </a:rPr>
              <a:t>Lecturer: Dr. Law Foong Li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1C694DE-68EC-4D4F-AECF-0B8A8E2AAFF8}"/>
              </a:ext>
            </a:extLst>
          </p:cNvPr>
          <p:cNvSpPr>
            <a:spLocks noGrp="1"/>
          </p:cNvSpPr>
          <p:nvPr/>
        </p:nvSpPr>
        <p:spPr>
          <a:xfrm>
            <a:off x="8515350" y="990600"/>
            <a:ext cx="2990850" cy="4267200"/>
          </a:xfrm>
          <a:prstGeom prst="rect">
            <a:avLst/>
          </a:prstGeom>
          <a:solidFill>
            <a:srgbClr val="E9F7FD"/>
          </a:solidFill>
          <a:ln w="9525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B2E8FB-17E5-4CCC-9725-9BA2BA572D35}"/>
              </a:ext>
            </a:extLst>
          </p:cNvPr>
          <p:cNvSpPr>
            <a:spLocks noGrp="1"/>
          </p:cNvSpPr>
          <p:nvPr/>
        </p:nvSpPr>
        <p:spPr>
          <a:xfrm>
            <a:off x="8896350" y="1428750"/>
            <a:ext cx="2228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VERIFIED RESULT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65B1D-2463-4FDC-AAD3-AD40CA1CD22A}"/>
              </a:ext>
            </a:extLst>
          </p:cNvPr>
          <p:cNvSpPr>
            <a:spLocks noGrp="1"/>
          </p:cNvSpPr>
          <p:nvPr/>
        </p:nvSpPr>
        <p:spPr>
          <a:xfrm>
            <a:off x="8896350" y="1924050"/>
            <a:ext cx="22288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5400" b="1">
                <a:solidFill>
                  <a:srgbClr val="111111"/>
                </a:solidFill>
              </a:defRPr>
            </a:pPr>
            <a:r>
              <a:rPr sz="5400" b="1">
                <a:solidFill>
                  <a:srgbClr val="111111"/>
                </a:solidFill>
              </a:rPr>
              <a:t>25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0A3D866-FDE7-478F-8223-35BE61477018}"/>
              </a:ext>
            </a:extLst>
          </p:cNvPr>
          <p:cNvSpPr>
            <a:spLocks noGrp="1"/>
          </p:cNvSpPr>
          <p:nvPr/>
        </p:nvSpPr>
        <p:spPr>
          <a:xfrm>
            <a:off x="8896350" y="2724150"/>
            <a:ext cx="2228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650" b="1">
                <a:solidFill>
                  <a:srgbClr val="5D636B"/>
                </a:solidFill>
              </a:defRPr>
            </a:pPr>
            <a:r>
              <a:rPr sz="1650" b="1">
                <a:solidFill>
                  <a:srgbClr val="5D636B"/>
                </a:solidFill>
              </a:rPr>
              <a:t>TPS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E403F6-CA25-454A-89B0-746613901A7F}"/>
              </a:ext>
            </a:extLst>
          </p:cNvPr>
          <p:cNvSpPr>
            <a:spLocks noGrp="1"/>
          </p:cNvSpPr>
          <p:nvPr/>
        </p:nvSpPr>
        <p:spPr>
          <a:xfrm>
            <a:off x="8896350" y="3133725"/>
            <a:ext cx="2228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850" b="1">
                <a:solidFill>
                  <a:srgbClr val="3D8DFF"/>
                </a:solidFill>
              </a:defRPr>
            </a:pPr>
            <a:r>
              <a:rPr sz="2850" b="1">
                <a:solidFill>
                  <a:srgbClr val="3D8DFF"/>
                </a:solidFill>
              </a:rPr>
              <a:t>↓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933685F-0437-4FC1-BB6C-90D5E9BA2836}"/>
              </a:ext>
            </a:extLst>
          </p:cNvPr>
          <p:cNvSpPr>
            <a:spLocks noGrp="1"/>
          </p:cNvSpPr>
          <p:nvPr/>
        </p:nvSpPr>
        <p:spPr>
          <a:xfrm>
            <a:off x="8896350" y="3686175"/>
            <a:ext cx="22288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5400" b="1">
                <a:solidFill>
                  <a:srgbClr val="3D8DFF"/>
                </a:solidFill>
              </a:defRPr>
            </a:pPr>
            <a:r>
              <a:rPr sz="5400" b="1">
                <a:solidFill>
                  <a:srgbClr val="3D8DFF"/>
                </a:solidFill>
              </a:rPr>
              <a:t>55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466DDAD-948B-47D3-B095-DAB333CCA8AF}"/>
              </a:ext>
            </a:extLst>
          </p:cNvPr>
          <p:cNvSpPr>
            <a:spLocks noGrp="1"/>
          </p:cNvSpPr>
          <p:nvPr/>
        </p:nvSpPr>
        <p:spPr>
          <a:xfrm>
            <a:off x="8896350" y="4514850"/>
            <a:ext cx="2228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650" b="1">
                <a:solidFill>
                  <a:srgbClr val="5D636B"/>
                </a:solidFill>
              </a:defRPr>
            </a:pPr>
            <a:r>
              <a:rPr sz="1650" b="1">
                <a:solidFill>
                  <a:srgbClr val="5D636B"/>
                </a:solidFill>
              </a:rPr>
              <a:t>TPS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53C7DB0-DD39-4EB0-A850-9FB89EFB8423}"/>
              </a:ext>
            </a:extLst>
          </p:cNvPr>
          <p:cNvSpPr>
            <a:spLocks noGrp="1"/>
          </p:cNvSpPr>
          <p:nvPr/>
        </p:nvSpPr>
        <p:spPr>
          <a:xfrm>
            <a:off x="8934450" y="5410200"/>
            <a:ext cx="2152650" cy="361950"/>
          </a:xfrm>
          <a:prstGeom prst="roundRect">
            <a:avLst>
              <a:gd name="adj" fmla="val 50000"/>
            </a:avLst>
          </a:prstGeom>
          <a:solidFill>
            <a:srgbClr val="3D8DFF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8792303-07D7-41C0-A49A-FEF44E5E3CC6}"/>
              </a:ext>
            </a:extLst>
          </p:cNvPr>
          <p:cNvSpPr>
            <a:spLocks noGrp="1"/>
          </p:cNvSpPr>
          <p:nvPr/>
        </p:nvSpPr>
        <p:spPr>
          <a:xfrm>
            <a:off x="9010650" y="5467350"/>
            <a:ext cx="20002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+120% vs baseline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969DDC2-8C0D-4C20-A836-07EEB7D21DCA}"/>
              </a:ext>
            </a:extLst>
          </p:cNvPr>
          <p:cNvSpPr>
            <a:spLocks noGrp="1"/>
          </p:cNvSpPr>
          <p:nvPr/>
        </p:nvSpPr>
        <p:spPr>
          <a:xfrm>
            <a:off x="10020300" y="6400800"/>
            <a:ext cx="1485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0">
                <a:solidFill>
                  <a:srgbClr val="5D636B"/>
                </a:solidFill>
              </a:defRPr>
            </a:pPr>
            <a:r>
              <a:rPr sz="900" b="0">
                <a:solidFill>
                  <a:srgbClr val="5D636B"/>
                </a:solidFill>
              </a:rPr>
              <a:t>21 AUGUST 2026</a:t>
            </a:r>
          </a:p>
        </p:txBody>
      </p:sp>
    </p:spTree>
    <p:extLst>
      <p:ext uri="{BB962C8B-B14F-4D97-AF65-F5344CB8AC3E}">
        <p14:creationId xmlns:p14="http://schemas.microsoft.com/office/powerpoint/2010/main" val="1062410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id="{EECEE184-EBB8-41B5-B90B-C3007AB63DE9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WHY THIS RESEARCH MATTERS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183E7CC-0920-408D-8971-6BECC402203C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47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Many techniques can improve TPS—but which ones work?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46F51125-3C43-4150-ADB1-9F91AB280BEB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1082040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93F8CC-272D-41F1-8705-B607685DFE7F}"/>
              </a:ext>
            </a:extLst>
          </p:cNvPr>
          <p:cNvSpPr>
            <a:spLocks noGrp="1"/>
          </p:cNvSpPr>
          <p:nvPr/>
        </p:nvSpPr>
        <p:spPr>
          <a:xfrm>
            <a:off x="10648950" y="6419850"/>
            <a:ext cx="857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0">
                <a:solidFill>
                  <a:srgbClr val="5D636B"/>
                </a:solidFill>
              </a:defRPr>
            </a:pPr>
            <a:r>
              <a:rPr sz="900" b="0">
                <a:solidFill>
                  <a:srgbClr val="5D636B"/>
                </a:solidFill>
              </a:rPr>
              <a:t>02 / 13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BFA6713-847E-4A2E-9C8E-A41595EB3A4D}"/>
              </a:ext>
            </a:extLst>
          </p:cNvPr>
          <p:cNvSpPr>
            <a:spLocks noGrp="1"/>
          </p:cNvSpPr>
          <p:nvPr/>
        </p:nvSpPr>
        <p:spPr>
          <a:xfrm>
            <a:off x="685800" y="1581150"/>
            <a:ext cx="4667250" cy="388620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C2DCA7B-E468-4E25-9DCB-264050F2F3D2}"/>
              </a:ext>
            </a:extLst>
          </p:cNvPr>
          <p:cNvSpPr>
            <a:spLocks noGrp="1"/>
          </p:cNvSpPr>
          <p:nvPr/>
        </p:nvSpPr>
        <p:spPr>
          <a:xfrm>
            <a:off x="990600" y="1828800"/>
            <a:ext cx="1905000" cy="342900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B1F76-49ED-4BDF-8190-CFDFAD130F09}"/>
              </a:ext>
            </a:extLst>
          </p:cNvPr>
          <p:cNvSpPr>
            <a:spLocks noGrp="1"/>
          </p:cNvSpPr>
          <p:nvPr/>
        </p:nvSpPr>
        <p:spPr>
          <a:xfrm>
            <a:off x="1066800" y="1895475"/>
            <a:ext cx="17526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1">
                <a:solidFill>
                  <a:srgbClr val="111111"/>
                </a:solidFill>
              </a:defRPr>
            </a:pPr>
            <a:r>
              <a:rPr sz="1050" b="1">
                <a:solidFill>
                  <a:srgbClr val="111111"/>
                </a:solidFill>
              </a:rPr>
              <a:t>PERFORMANCE OPTIONS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43AAE17-6428-4286-A076-FFF9DB9B95FC}"/>
              </a:ext>
            </a:extLst>
          </p:cNvPr>
          <p:cNvSpPr>
            <a:spLocks noGrp="1"/>
          </p:cNvSpPr>
          <p:nvPr/>
        </p:nvSpPr>
        <p:spPr>
          <a:xfrm>
            <a:off x="990600" y="2381250"/>
            <a:ext cx="4000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TPS can improve at many layers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0BF47D3-DA4D-4A4D-A42F-638227DFE203}"/>
              </a:ext>
            </a:extLst>
          </p:cNvPr>
          <p:cNvSpPr>
            <a:spLocks noGrp="1"/>
          </p:cNvSpPr>
          <p:nvPr/>
        </p:nvSpPr>
        <p:spPr>
          <a:xfrm>
            <a:off x="990600" y="2914650"/>
            <a:ext cx="4000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5D636B"/>
                </a:solidFill>
              </a:defRPr>
            </a:pPr>
            <a:r>
              <a:rPr sz="1350" b="0">
                <a:solidFill>
                  <a:srgbClr val="5D636B"/>
                </a:solidFill>
              </a:rPr>
              <a:t>Different techniques target different parts of the system.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491394-3D4D-4BEE-801B-19767FA66CD6}"/>
              </a:ext>
            </a:extLst>
          </p:cNvPr>
          <p:cNvSpPr>
            <a:spLocks noGrp="1"/>
          </p:cNvSpPr>
          <p:nvPr/>
        </p:nvSpPr>
        <p:spPr>
          <a:xfrm>
            <a:off x="990600" y="3448050"/>
            <a:ext cx="1962150" cy="438150"/>
          </a:xfrm>
          <a:prstGeom prst="rect">
            <a:avLst/>
          </a:prstGeom>
          <a:solidFill>
            <a:srgbClr val="FFFFFF"/>
          </a:solidFill>
          <a:ln w="9525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8F805FC-0C3C-49A8-968A-98F2324B6F22}"/>
              </a:ext>
            </a:extLst>
          </p:cNvPr>
          <p:cNvSpPr>
            <a:spLocks noGrp="1"/>
          </p:cNvSpPr>
          <p:nvPr/>
        </p:nvSpPr>
        <p:spPr>
          <a:xfrm>
            <a:off x="3105150" y="3448050"/>
            <a:ext cx="1962150" cy="438150"/>
          </a:xfrm>
          <a:prstGeom prst="rect">
            <a:avLst/>
          </a:prstGeom>
          <a:solidFill>
            <a:srgbClr val="FFFFFF"/>
          </a:solidFill>
          <a:ln w="9525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6371AEC-FA22-472A-867C-8D2769E808AF}"/>
              </a:ext>
            </a:extLst>
          </p:cNvPr>
          <p:cNvSpPr>
            <a:spLocks noGrp="1"/>
          </p:cNvSpPr>
          <p:nvPr/>
        </p:nvSpPr>
        <p:spPr>
          <a:xfrm>
            <a:off x="990600" y="4000500"/>
            <a:ext cx="1962150" cy="438150"/>
          </a:xfrm>
          <a:prstGeom prst="rect">
            <a:avLst/>
          </a:prstGeom>
          <a:solidFill>
            <a:srgbClr val="FFFFFF"/>
          </a:solidFill>
          <a:ln w="9525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07963CF-3928-41D5-83CD-F297A2ADA80C}"/>
              </a:ext>
            </a:extLst>
          </p:cNvPr>
          <p:cNvSpPr>
            <a:spLocks noGrp="1"/>
          </p:cNvSpPr>
          <p:nvPr/>
        </p:nvSpPr>
        <p:spPr>
          <a:xfrm>
            <a:off x="3105150" y="4000500"/>
            <a:ext cx="1962150" cy="438150"/>
          </a:xfrm>
          <a:prstGeom prst="rect">
            <a:avLst/>
          </a:prstGeom>
          <a:solidFill>
            <a:srgbClr val="FFFFFF"/>
          </a:solidFill>
          <a:ln w="9525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5F7EC25-9499-40CC-903E-DD2136B455C4}"/>
              </a:ext>
            </a:extLst>
          </p:cNvPr>
          <p:cNvSpPr>
            <a:spLocks noGrp="1"/>
          </p:cNvSpPr>
          <p:nvPr/>
        </p:nvSpPr>
        <p:spPr>
          <a:xfrm>
            <a:off x="990600" y="4552950"/>
            <a:ext cx="1962150" cy="438150"/>
          </a:xfrm>
          <a:prstGeom prst="rect">
            <a:avLst/>
          </a:prstGeom>
          <a:solidFill>
            <a:srgbClr val="FFFFFF"/>
          </a:solidFill>
          <a:ln w="9525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2FAF82C-E86C-4D47-914D-C66F1809D7AC}"/>
              </a:ext>
            </a:extLst>
          </p:cNvPr>
          <p:cNvSpPr>
            <a:spLocks noGrp="1"/>
          </p:cNvSpPr>
          <p:nvPr/>
        </p:nvSpPr>
        <p:spPr>
          <a:xfrm>
            <a:off x="3105150" y="4552950"/>
            <a:ext cx="1962150" cy="438150"/>
          </a:xfrm>
          <a:prstGeom prst="rect">
            <a:avLst/>
          </a:prstGeom>
          <a:solidFill>
            <a:srgbClr val="FFFFFF"/>
          </a:solidFill>
          <a:ln w="9525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D36F6C-D4BA-4ABC-AF19-E172A59641BA}"/>
              </a:ext>
            </a:extLst>
          </p:cNvPr>
          <p:cNvSpPr>
            <a:spLocks noGrp="1"/>
          </p:cNvSpPr>
          <p:nvPr/>
        </p:nvSpPr>
        <p:spPr>
          <a:xfrm>
            <a:off x="3771900" y="4076700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BAE135F-77C0-42A1-9774-CB75290BDA0A}"/>
              </a:ext>
            </a:extLst>
          </p:cNvPr>
          <p:cNvSpPr>
            <a:spLocks noGrp="1"/>
          </p:cNvSpPr>
          <p:nvPr/>
        </p:nvSpPr>
        <p:spPr>
          <a:xfrm>
            <a:off x="4229100" y="4076700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B7C6D9E-50A1-422D-80ED-469FCECA3B04}"/>
              </a:ext>
            </a:extLst>
          </p:cNvPr>
          <p:cNvSpPr>
            <a:spLocks noGrp="1"/>
          </p:cNvSpPr>
          <p:nvPr/>
        </p:nvSpPr>
        <p:spPr>
          <a:xfrm>
            <a:off x="990600" y="5162550"/>
            <a:ext cx="4076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1">
                <a:solidFill>
                  <a:srgbClr val="5D636B"/>
                </a:solidFill>
              </a:defRPr>
            </a:pPr>
            <a:r>
              <a:rPr sz="975" b="1">
                <a:solidFill>
                  <a:srgbClr val="5D636B"/>
                </a:solidFill>
              </a:rPr>
              <a:t>Different layers · different effects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ABECB1E-B9BC-49D6-8DCC-DEB99CAA9631}"/>
              </a:ext>
            </a:extLst>
          </p:cNvPr>
          <p:cNvSpPr>
            <a:spLocks noGrp="1"/>
          </p:cNvSpPr>
          <p:nvPr/>
        </p:nvSpPr>
        <p:spPr>
          <a:xfrm>
            <a:off x="6153150" y="1581150"/>
            <a:ext cx="5353050" cy="3886200"/>
          </a:xfrm>
          <a:prstGeom prst="rect">
            <a:avLst/>
          </a:prstGeom>
          <a:solidFill>
            <a:srgbClr val="E9F7FD"/>
          </a:solidFill>
          <a:ln w="9525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301F5A6-3572-43A8-8201-2F382EA2FDC7}"/>
              </a:ext>
            </a:extLst>
          </p:cNvPr>
          <p:cNvSpPr>
            <a:spLocks noGrp="1"/>
          </p:cNvSpPr>
          <p:nvPr/>
        </p:nvSpPr>
        <p:spPr>
          <a:xfrm>
            <a:off x="6457950" y="1828800"/>
            <a:ext cx="1524000" cy="342900"/>
          </a:xfrm>
          <a:prstGeom prst="roundRect">
            <a:avLst>
              <a:gd name="adj" fmla="val 50000"/>
            </a:avLst>
          </a:prstGeom>
          <a:solidFill>
            <a:srgbClr val="3D8DFF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B92C16C-66A6-4BB1-92D4-06E51C217E71}"/>
              </a:ext>
            </a:extLst>
          </p:cNvPr>
          <p:cNvSpPr>
            <a:spLocks noGrp="1"/>
          </p:cNvSpPr>
          <p:nvPr/>
        </p:nvSpPr>
        <p:spPr>
          <a:xfrm>
            <a:off x="6534150" y="1895475"/>
            <a:ext cx="13716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RESEARCH VALUE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E4F4E8D-907F-4D5E-ACA7-D0A4E38E615B}"/>
              </a:ext>
            </a:extLst>
          </p:cNvPr>
          <p:cNvSpPr>
            <a:spLocks noGrp="1"/>
          </p:cNvSpPr>
          <p:nvPr/>
        </p:nvSpPr>
        <p:spPr>
          <a:xfrm>
            <a:off x="6457950" y="2381250"/>
            <a:ext cx="4476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Technique choice needs evidence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8E37858-60FE-4844-B80C-444990B2E554}"/>
              </a:ext>
            </a:extLst>
          </p:cNvPr>
          <p:cNvSpPr>
            <a:spLocks noGrp="1"/>
          </p:cNvSpPr>
          <p:nvPr/>
        </p:nvSpPr>
        <p:spPr>
          <a:xfrm>
            <a:off x="6457950" y="2952750"/>
            <a:ext cx="44767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5D636B"/>
                </a:solidFill>
              </a:defRPr>
            </a:pPr>
            <a:r>
              <a:rPr sz="1425" b="0">
                <a:solidFill>
                  <a:srgbClr val="5D636B"/>
                </a:solidFill>
              </a:rPr>
              <a:t>The effect depends on the system and workload. A technique may deliver a major gain, a minor gain, or no useful improvement.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F34C9DA-5AC8-4835-A125-290764A13C31}"/>
              </a:ext>
            </a:extLst>
          </p:cNvPr>
          <p:cNvSpPr>
            <a:spLocks noGrp="1"/>
          </p:cNvSpPr>
          <p:nvPr/>
        </p:nvSpPr>
        <p:spPr>
          <a:xfrm>
            <a:off x="6496050" y="40576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C73FCCA-CC4A-4430-A1A9-64C0781700AC}"/>
              </a:ext>
            </a:extLst>
          </p:cNvPr>
          <p:cNvSpPr>
            <a:spLocks noGrp="1"/>
          </p:cNvSpPr>
          <p:nvPr/>
        </p:nvSpPr>
        <p:spPr>
          <a:xfrm>
            <a:off x="1066800" y="3552825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111111"/>
                </a:solidFill>
              </a:defRPr>
            </a:pPr>
            <a:r>
              <a:rPr sz="1125" b="1">
                <a:solidFill>
                  <a:srgbClr val="111111"/>
                </a:solidFill>
              </a:rPr>
              <a:t>Application concurrency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9AD6ACB-3D83-4754-9163-CFB75C9CA820}"/>
              </a:ext>
            </a:extLst>
          </p:cNvPr>
          <p:cNvSpPr>
            <a:spLocks noGrp="1"/>
          </p:cNvSpPr>
          <p:nvPr/>
        </p:nvSpPr>
        <p:spPr>
          <a:xfrm>
            <a:off x="7048500" y="40576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DDC22C-D03E-4780-B36B-87135E06D441}"/>
              </a:ext>
            </a:extLst>
          </p:cNvPr>
          <p:cNvSpPr>
            <a:spLocks noGrp="1"/>
          </p:cNvSpPr>
          <p:nvPr/>
        </p:nvSpPr>
        <p:spPr>
          <a:xfrm>
            <a:off x="3181350" y="3552825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111111"/>
                </a:solidFill>
              </a:defRPr>
            </a:pPr>
            <a:r>
              <a:rPr sz="1125" b="1">
                <a:solidFill>
                  <a:srgbClr val="111111"/>
                </a:solidFill>
              </a:rPr>
              <a:t>Kafka messaging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F857A13-17B1-42A6-8FE3-ED39CDE31DEC}"/>
              </a:ext>
            </a:extLst>
          </p:cNvPr>
          <p:cNvSpPr>
            <a:spLocks noGrp="1"/>
          </p:cNvSpPr>
          <p:nvPr/>
        </p:nvSpPr>
        <p:spPr>
          <a:xfrm>
            <a:off x="7600950" y="40576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A54E0E-8792-4FE3-8A2A-3BD2D2F7969F}"/>
              </a:ext>
            </a:extLst>
          </p:cNvPr>
          <p:cNvSpPr>
            <a:spLocks noGrp="1"/>
          </p:cNvSpPr>
          <p:nvPr/>
        </p:nvSpPr>
        <p:spPr>
          <a:xfrm>
            <a:off x="1066800" y="4105275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111111"/>
                </a:solidFill>
              </a:defRPr>
            </a:pPr>
            <a:r>
              <a:rPr sz="1125" b="1">
                <a:solidFill>
                  <a:srgbClr val="111111"/>
                </a:solidFill>
              </a:rPr>
              <a:t>In-memory processing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31294A4-B1F5-4990-8846-726A3D692596}"/>
              </a:ext>
            </a:extLst>
          </p:cNvPr>
          <p:cNvSpPr>
            <a:spLocks noGrp="1"/>
          </p:cNvSpPr>
          <p:nvPr/>
        </p:nvSpPr>
        <p:spPr>
          <a:xfrm>
            <a:off x="8153400" y="40576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58914E6-F350-4DF7-833E-890713BD5FEF}"/>
              </a:ext>
            </a:extLst>
          </p:cNvPr>
          <p:cNvSpPr>
            <a:spLocks noGrp="1"/>
          </p:cNvSpPr>
          <p:nvPr/>
        </p:nvSpPr>
        <p:spPr>
          <a:xfrm>
            <a:off x="3181350" y="4105275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111111"/>
                </a:solidFill>
              </a:defRPr>
            </a:pPr>
            <a:r>
              <a:rPr sz="1125" b="1">
                <a:solidFill>
                  <a:srgbClr val="111111"/>
                </a:solidFill>
              </a:rPr>
              <a:t>Redis caching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EF27521-7C36-4366-87CC-11AA43453A8B}"/>
              </a:ext>
            </a:extLst>
          </p:cNvPr>
          <p:cNvSpPr>
            <a:spLocks noGrp="1"/>
          </p:cNvSpPr>
          <p:nvPr/>
        </p:nvSpPr>
        <p:spPr>
          <a:xfrm>
            <a:off x="8705850" y="40576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9733FF2-0BC6-477D-95FB-60A0417CE1BF}"/>
              </a:ext>
            </a:extLst>
          </p:cNvPr>
          <p:cNvSpPr>
            <a:spLocks noGrp="1"/>
          </p:cNvSpPr>
          <p:nvPr/>
        </p:nvSpPr>
        <p:spPr>
          <a:xfrm>
            <a:off x="1066800" y="4657725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111111"/>
                </a:solidFill>
              </a:defRPr>
            </a:pPr>
            <a:r>
              <a:rPr sz="1125" b="1">
                <a:solidFill>
                  <a:srgbClr val="111111"/>
                </a:solidFill>
              </a:rPr>
              <a:t>Database optimisation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399C4D5-A90A-48CE-9248-0356FB7471D5}"/>
              </a:ext>
            </a:extLst>
          </p:cNvPr>
          <p:cNvSpPr>
            <a:spLocks noGrp="1"/>
          </p:cNvSpPr>
          <p:nvPr/>
        </p:nvSpPr>
        <p:spPr>
          <a:xfrm>
            <a:off x="9258300" y="40576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997874C-A69D-4FBF-9BBB-C0CE2727E7C8}"/>
              </a:ext>
            </a:extLst>
          </p:cNvPr>
          <p:cNvSpPr>
            <a:spLocks noGrp="1"/>
          </p:cNvSpPr>
          <p:nvPr/>
        </p:nvSpPr>
        <p:spPr>
          <a:xfrm>
            <a:off x="3181350" y="4657725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111111"/>
                </a:solidFill>
              </a:defRPr>
            </a:pPr>
            <a:r>
              <a:rPr sz="1125" b="1">
                <a:solidFill>
                  <a:srgbClr val="111111"/>
                </a:solidFill>
              </a:rPr>
              <a:t>Resource scaling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3D4A9C8-F190-42BC-ACB5-2C3B658065A3}"/>
              </a:ext>
            </a:extLst>
          </p:cNvPr>
          <p:cNvSpPr>
            <a:spLocks noGrp="1"/>
          </p:cNvSpPr>
          <p:nvPr/>
        </p:nvSpPr>
        <p:spPr>
          <a:xfrm>
            <a:off x="9810750" y="40576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A9E405D-C3DC-472E-AC50-B942404EFBC8}"/>
              </a:ext>
            </a:extLst>
          </p:cNvPr>
          <p:cNvSpPr>
            <a:spLocks noGrp="1"/>
          </p:cNvSpPr>
          <p:nvPr/>
        </p:nvSpPr>
        <p:spPr>
          <a:xfrm>
            <a:off x="6572250" y="4705350"/>
            <a:ext cx="4248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3D8DFF"/>
                </a:solidFill>
              </a:defRPr>
            </a:pPr>
            <a:r>
              <a:rPr sz="1275" b="1">
                <a:solidFill>
                  <a:srgbClr val="3D8DFF"/>
                </a:solidFill>
              </a:rPr>
              <a:t>Compare the verified TPS gain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D2BEB22-1D37-460C-BE59-236A25CED7F6}"/>
              </a:ext>
            </a:extLst>
          </p:cNvPr>
          <p:cNvSpPr>
            <a:spLocks noGrp="1"/>
          </p:cNvSpPr>
          <p:nvPr/>
        </p:nvSpPr>
        <p:spPr>
          <a:xfrm>
            <a:off x="10363200" y="40576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7995D5C-217F-438F-AA90-5BEE5903BC8F}"/>
              </a:ext>
            </a:extLst>
          </p:cNvPr>
          <p:cNvSpPr>
            <a:spLocks noGrp="1"/>
          </p:cNvSpPr>
          <p:nvPr/>
        </p:nvSpPr>
        <p:spPr>
          <a:xfrm>
            <a:off x="6572250" y="5105400"/>
            <a:ext cx="424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1">
                <a:solidFill>
                  <a:srgbClr val="5D636B"/>
                </a:solidFill>
              </a:defRPr>
            </a:pPr>
            <a:r>
              <a:rPr sz="975" b="1">
                <a:solidFill>
                  <a:srgbClr val="5D636B"/>
                </a:solidFill>
              </a:rPr>
              <a:t>Same system · same workload · same measurement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F6B0F44-680A-4DCB-96CF-C5F49F95C524}"/>
              </a:ext>
            </a:extLst>
          </p:cNvPr>
          <p:cNvSpPr>
            <a:spLocks noGrp="1"/>
          </p:cNvSpPr>
          <p:nvPr/>
        </p:nvSpPr>
        <p:spPr>
          <a:xfrm>
            <a:off x="6572250" y="4171950"/>
            <a:ext cx="42481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Baseline  →  one change  →  measure again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6803F465-2B47-4F63-A234-2C8BEA3C4C18}"/>
              </a:ext>
            </a:extLst>
          </p:cNvPr>
          <p:cNvSpPr>
            <a:spLocks noGrp="1"/>
          </p:cNvSpPr>
          <p:nvPr/>
        </p:nvSpPr>
        <p:spPr>
          <a:xfrm>
            <a:off x="4495800" y="5753100"/>
            <a:ext cx="3200400" cy="400050"/>
          </a:xfrm>
          <a:prstGeom prst="roundRect">
            <a:avLst>
              <a:gd name="adj" fmla="val 50000"/>
            </a:avLst>
          </a:prstGeom>
          <a:noFill/>
          <a:ln w="0">
            <a:noFill/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B02F7F0-1326-4D87-9D16-D8709721D623}"/>
              </a:ext>
            </a:extLst>
          </p:cNvPr>
          <p:cNvSpPr>
            <a:spLocks noGrp="1"/>
          </p:cNvSpPr>
          <p:nvPr/>
        </p:nvSpPr>
        <p:spPr>
          <a:xfrm>
            <a:off x="685800" y="5810250"/>
            <a:ext cx="10820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500" b="1">
                <a:solidFill>
                  <a:srgbClr val="3D8DFF"/>
                </a:solidFill>
              </a:defRPr>
            </a:pPr>
            <a:r>
              <a:rPr sz="1500" b="1">
                <a:solidFill>
                  <a:srgbClr val="3D8DFF"/>
                </a:solidFill>
              </a:rPr>
              <a:t>This research shows which selected techniques genuinely increase TPS in the tested system.</a:t>
            </a:r>
          </a:p>
        </p:txBody>
      </p:sp>
    </p:spTree>
    <p:extLst>
      <p:ext uri="{BB962C8B-B14F-4D97-AF65-F5344CB8AC3E}">
        <p14:creationId xmlns:p14="http://schemas.microsoft.com/office/powerpoint/2010/main" val="1433995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917E7442-D346-4587-928C-C69A4DE3F54E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RESEARCH PROBLEM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2398F35-E0CE-4349-9F0E-9027FE6C5A6E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47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A local speed-up may only move the bottleneck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8A4FAEA5-7795-4A01-82C9-CAC2C83272C6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1082040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23047A-E752-4BA7-B660-2191EF74B9A5}"/>
              </a:ext>
            </a:extLst>
          </p:cNvPr>
          <p:cNvSpPr>
            <a:spLocks noGrp="1"/>
          </p:cNvSpPr>
          <p:nvPr/>
        </p:nvSpPr>
        <p:spPr>
          <a:xfrm>
            <a:off x="10648950" y="6419850"/>
            <a:ext cx="857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0">
                <a:solidFill>
                  <a:srgbClr val="5D636B"/>
                </a:solidFill>
              </a:defRPr>
            </a:pPr>
            <a:r>
              <a:rPr sz="900" b="0">
                <a:solidFill>
                  <a:srgbClr val="5D636B"/>
                </a:solidFill>
              </a:rPr>
              <a:t>03 / 13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C66637-D1BB-4430-BF84-D5143AB73F4D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906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5D636B"/>
                </a:solidFill>
              </a:defRPr>
            </a:pPr>
            <a:r>
              <a:rPr sz="1500" b="0">
                <a:solidFill>
                  <a:srgbClr val="5D636B"/>
                </a:solidFill>
              </a:rPr>
              <a:t>Existing techniques improve different layers, but isolated measurements do not show whether the whole transaction path completes more work.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5A377D-6E26-415D-AA0E-FA0889484DAD}"/>
              </a:ext>
            </a:extLst>
          </p:cNvPr>
          <p:cNvSpPr>
            <a:spLocks noGrp="1"/>
          </p:cNvSpPr>
          <p:nvPr/>
        </p:nvSpPr>
        <p:spPr>
          <a:xfrm>
            <a:off x="685800" y="2457450"/>
            <a:ext cx="1752600" cy="110490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73266F-AC03-4443-A7B9-C74415EA961A}"/>
              </a:ext>
            </a:extLst>
          </p:cNvPr>
          <p:cNvSpPr>
            <a:spLocks noGrp="1"/>
          </p:cNvSpPr>
          <p:nvPr/>
        </p:nvSpPr>
        <p:spPr>
          <a:xfrm>
            <a:off x="857250" y="2638425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1E2194-9D19-4AEF-BC95-1A0AEECB15AC}"/>
              </a:ext>
            </a:extLst>
          </p:cNvPr>
          <p:cNvSpPr>
            <a:spLocks noGrp="1"/>
          </p:cNvSpPr>
          <p:nvPr/>
        </p:nvSpPr>
        <p:spPr>
          <a:xfrm>
            <a:off x="857250" y="30099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API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1A3EA8-A814-4539-8692-FB978C8C74D2}"/>
              </a:ext>
            </a:extLst>
          </p:cNvPr>
          <p:cNvSpPr>
            <a:spLocks noGrp="1"/>
          </p:cNvSpPr>
          <p:nvPr/>
        </p:nvSpPr>
        <p:spPr>
          <a:xfrm>
            <a:off x="2838450" y="2457450"/>
            <a:ext cx="1752600" cy="110490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BA6728F-1EBF-4C24-A0A5-60DCFE76D670}"/>
              </a:ext>
            </a:extLst>
          </p:cNvPr>
          <p:cNvSpPr>
            <a:spLocks noGrp="1"/>
          </p:cNvSpPr>
          <p:nvPr/>
        </p:nvSpPr>
        <p:spPr>
          <a:xfrm>
            <a:off x="3009900" y="2638425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02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6D3CFBC-F640-43B5-9ADB-96BCE050591B}"/>
              </a:ext>
            </a:extLst>
          </p:cNvPr>
          <p:cNvSpPr>
            <a:spLocks noGrp="1"/>
          </p:cNvSpPr>
          <p:nvPr/>
        </p:nvSpPr>
        <p:spPr>
          <a:xfrm>
            <a:off x="3009900" y="30099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Messaging</a:t>
            </a:r>
          </a:p>
        </p:txBody>
      </p:sp>
      <p:cxnSp>
        <p:nvCxnSpPr>
          <p:cNvPr id="92" name="Straight Arrow Connector 91"/>
          <p:cNvCxnSpPr>
            <a:stCxn id="6" idx="3"/>
            <a:endCxn id="9" idx="1"/>
          </p:cNvCxnSpPr>
          <p:nvPr/>
        </p:nvCxnSpPr>
        <p:spPr>
          <a:xfrm>
            <a:off x="2438400" y="3009900"/>
            <a:ext cx="400050" cy="0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  <a:tailEnd type="arrow" w="med" len="med"/>
          </a:ln>
        </p:spPr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889C02A2-155E-40B7-A614-D7225B81F80C}"/>
              </a:ext>
            </a:extLst>
          </p:cNvPr>
          <p:cNvSpPr>
            <a:spLocks noGrp="1"/>
          </p:cNvSpPr>
          <p:nvPr/>
        </p:nvSpPr>
        <p:spPr>
          <a:xfrm>
            <a:off x="4991100" y="2457450"/>
            <a:ext cx="1752600" cy="1104900"/>
          </a:xfrm>
          <a:prstGeom prst="rect">
            <a:avLst/>
          </a:prstGeom>
          <a:solidFill>
            <a:srgbClr val="E9F7FD"/>
          </a:solidFill>
          <a:ln w="9525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9B7454-197B-4440-9F50-59E503D8D3EE}"/>
              </a:ext>
            </a:extLst>
          </p:cNvPr>
          <p:cNvSpPr>
            <a:spLocks noGrp="1"/>
          </p:cNvSpPr>
          <p:nvPr/>
        </p:nvSpPr>
        <p:spPr>
          <a:xfrm>
            <a:off x="5162550" y="2638425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03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7617464-AE74-4C0E-9C65-CC79D3349FBA}"/>
              </a:ext>
            </a:extLst>
          </p:cNvPr>
          <p:cNvSpPr>
            <a:spLocks noGrp="1"/>
          </p:cNvSpPr>
          <p:nvPr/>
        </p:nvSpPr>
        <p:spPr>
          <a:xfrm>
            <a:off x="5162550" y="30099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Matching</a:t>
            </a:r>
          </a:p>
        </p:txBody>
      </p:sp>
      <p:cxnSp>
        <p:nvCxnSpPr>
          <p:cNvPr id="96" name="Straight Arrow Connector 95"/>
          <p:cNvCxnSpPr>
            <a:stCxn id="9" idx="3"/>
            <a:endCxn id="13" idx="1"/>
          </p:cNvCxnSpPr>
          <p:nvPr/>
        </p:nvCxnSpPr>
        <p:spPr>
          <a:xfrm>
            <a:off x="4591050" y="3009900"/>
            <a:ext cx="400050" cy="0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  <a:tailEnd type="arrow" w="med" len="med"/>
          </a:ln>
        </p:spPr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6CAFEE62-6140-4266-8BE4-1919578713F1}"/>
              </a:ext>
            </a:extLst>
          </p:cNvPr>
          <p:cNvSpPr>
            <a:spLocks noGrp="1"/>
          </p:cNvSpPr>
          <p:nvPr/>
        </p:nvSpPr>
        <p:spPr>
          <a:xfrm>
            <a:off x="7143750" y="2457450"/>
            <a:ext cx="1752600" cy="110490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B707C2B-1A61-4015-98D7-0F32FEA3D936}"/>
              </a:ext>
            </a:extLst>
          </p:cNvPr>
          <p:cNvSpPr>
            <a:spLocks noGrp="1"/>
          </p:cNvSpPr>
          <p:nvPr/>
        </p:nvSpPr>
        <p:spPr>
          <a:xfrm>
            <a:off x="7315200" y="2638425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04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F336EC9-FA13-473F-A70B-D621FC9802A0}"/>
              </a:ext>
            </a:extLst>
          </p:cNvPr>
          <p:cNvSpPr>
            <a:spLocks noGrp="1"/>
          </p:cNvSpPr>
          <p:nvPr/>
        </p:nvSpPr>
        <p:spPr>
          <a:xfrm>
            <a:off x="7315200" y="30099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Reservation</a:t>
            </a:r>
          </a:p>
        </p:txBody>
      </p:sp>
      <p:cxnSp>
        <p:nvCxnSpPr>
          <p:cNvPr id="100" name="Straight Arrow Connector 99"/>
          <p:cNvCxnSpPr>
            <a:stCxn id="13" idx="3"/>
            <a:endCxn id="17" idx="1"/>
          </p:cNvCxnSpPr>
          <p:nvPr/>
        </p:nvCxnSpPr>
        <p:spPr>
          <a:xfrm>
            <a:off x="6743700" y="3009900"/>
            <a:ext cx="400050" cy="0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  <a:tailEnd type="arrow" w="med" len="med"/>
          </a:ln>
        </p:spPr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19628618-4503-4BF8-B192-EFC3383BC9B1}"/>
              </a:ext>
            </a:extLst>
          </p:cNvPr>
          <p:cNvSpPr>
            <a:spLocks noGrp="1"/>
          </p:cNvSpPr>
          <p:nvPr/>
        </p:nvSpPr>
        <p:spPr>
          <a:xfrm>
            <a:off x="9296400" y="2457450"/>
            <a:ext cx="1752600" cy="110490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505AA44-8D41-45B4-AB11-1A1D78E199A5}"/>
              </a:ext>
            </a:extLst>
          </p:cNvPr>
          <p:cNvSpPr>
            <a:spLocks noGrp="1"/>
          </p:cNvSpPr>
          <p:nvPr/>
        </p:nvSpPr>
        <p:spPr>
          <a:xfrm>
            <a:off x="9467850" y="2638425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C79E873-55BC-4144-AB85-1C64690C1833}"/>
              </a:ext>
            </a:extLst>
          </p:cNvPr>
          <p:cNvSpPr>
            <a:spLocks noGrp="1"/>
          </p:cNvSpPr>
          <p:nvPr/>
        </p:nvSpPr>
        <p:spPr>
          <a:xfrm>
            <a:off x="9467850" y="30099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Database</a:t>
            </a:r>
          </a:p>
        </p:txBody>
      </p:sp>
      <p:cxnSp>
        <p:nvCxnSpPr>
          <p:cNvPr id="104" name="Straight Arrow Connector 103"/>
          <p:cNvCxnSpPr>
            <a:stCxn id="17" idx="3"/>
            <a:endCxn id="21" idx="1"/>
          </p:cNvCxnSpPr>
          <p:nvPr/>
        </p:nvCxnSpPr>
        <p:spPr>
          <a:xfrm>
            <a:off x="8896350" y="3009900"/>
            <a:ext cx="400050" cy="0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  <a:tailEnd type="arrow" w="med" len="med"/>
          </a:ln>
        </p:spPr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2A8855A-F7CA-4D56-8767-EB65C1E5CEFF}"/>
              </a:ext>
            </a:extLst>
          </p:cNvPr>
          <p:cNvSpPr>
            <a:spLocks noGrp="1"/>
          </p:cNvSpPr>
          <p:nvPr/>
        </p:nvSpPr>
        <p:spPr>
          <a:xfrm>
            <a:off x="5248275" y="3733800"/>
            <a:ext cx="1466850" cy="342900"/>
          </a:xfrm>
          <a:prstGeom prst="roundRect">
            <a:avLst>
              <a:gd name="adj" fmla="val 50000"/>
            </a:avLst>
          </a:prstGeom>
          <a:solidFill>
            <a:srgbClr val="C83E4D"/>
          </a:solidFill>
          <a:ln w="9525">
            <a:solidFill>
              <a:srgbClr val="C83E4D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AA1E338-7802-419E-BDDD-F8F1FD98234A}"/>
              </a:ext>
            </a:extLst>
          </p:cNvPr>
          <p:cNvSpPr>
            <a:spLocks noGrp="1"/>
          </p:cNvSpPr>
          <p:nvPr/>
        </p:nvSpPr>
        <p:spPr>
          <a:xfrm>
            <a:off x="5324475" y="3790950"/>
            <a:ext cx="13144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BOTTLENECK</a:t>
            </a:r>
          </a:p>
        </p:txBody>
      </p:sp>
      <p:sp>
        <p:nvSpPr>
          <p:cNvPr id="27" name="Straight Connector 26">
            <a:extLst>
              <a:ext uri="{FF2B5EF4-FFF2-40B4-BE49-F238E27FC236}">
                <a16:creationId xmlns:a16="http://schemas.microsoft.com/office/drawing/2014/main" id="{16437A36-2A9B-4E96-94D4-A3A38239A16B}"/>
              </a:ext>
            </a:extLst>
          </p:cNvPr>
          <p:cNvSpPr>
            <a:spLocks noGrp="1"/>
          </p:cNvSpPr>
          <p:nvPr/>
        </p:nvSpPr>
        <p:spPr>
          <a:xfrm>
            <a:off x="5981700" y="3562350"/>
            <a:ext cx="0" cy="171450"/>
          </a:xfrm>
          <a:prstGeom prst="line">
            <a:avLst/>
          </a:prstGeom>
          <a:noFill/>
          <a:ln w="19050">
            <a:solidFill>
              <a:srgbClr val="C83E4D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904A6F4-7D2A-4601-96C5-2A14BE1C4CF9}"/>
              </a:ext>
            </a:extLst>
          </p:cNvPr>
          <p:cNvSpPr>
            <a:spLocks noGrp="1"/>
          </p:cNvSpPr>
          <p:nvPr/>
        </p:nvSpPr>
        <p:spPr>
          <a:xfrm>
            <a:off x="685800" y="4533900"/>
            <a:ext cx="10820400" cy="1257300"/>
          </a:xfrm>
          <a:prstGeom prst="rect">
            <a:avLst/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AD67D7D-7798-48D3-AE4B-C94EA4830DD2}"/>
              </a:ext>
            </a:extLst>
          </p:cNvPr>
          <p:cNvSpPr>
            <a:spLocks noGrp="1"/>
          </p:cNvSpPr>
          <p:nvPr/>
        </p:nvSpPr>
        <p:spPr>
          <a:xfrm>
            <a:off x="990600" y="480060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6DCBF4"/>
                </a:solidFill>
              </a:defRPr>
            </a:pPr>
            <a:r>
              <a:rPr sz="1200" b="1">
                <a:solidFill>
                  <a:srgbClr val="6DCBF4"/>
                </a:solidFill>
              </a:rPr>
              <a:t>Research question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2F12F04-3B04-4EA6-BE3B-E3EC9C593EE1}"/>
              </a:ext>
            </a:extLst>
          </p:cNvPr>
          <p:cNvSpPr>
            <a:spLocks noGrp="1"/>
          </p:cNvSpPr>
          <p:nvPr/>
        </p:nvSpPr>
        <p:spPr>
          <a:xfrm>
            <a:off x="2895600" y="4733925"/>
            <a:ext cx="8096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Which changes genuinely increase sustainable completed TPS across the same end-to-end path?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3E5DBB2-12DC-42A8-8041-B7E25EF5AEFF}"/>
              </a:ext>
            </a:extLst>
          </p:cNvPr>
          <p:cNvSpPr>
            <a:spLocks noGrp="1"/>
          </p:cNvSpPr>
          <p:nvPr/>
        </p:nvSpPr>
        <p:spPr>
          <a:xfrm>
            <a:off x="2895600" y="53911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B8BCC4"/>
                </a:solidFill>
              </a:defRPr>
            </a:pPr>
            <a:r>
              <a:rPr sz="1200" b="0">
                <a:solidFill>
                  <a:srgbClr val="B8BCC4"/>
                </a:solidFill>
              </a:rPr>
              <a:t>Measure the whole path again after every change.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4AA96EC-89A6-4E41-90C7-6C37E1809A3E}"/>
              </a:ext>
            </a:extLst>
          </p:cNvPr>
          <p:cNvSpPr>
            <a:spLocks noGrp="1"/>
          </p:cNvSpPr>
          <p:nvPr/>
        </p:nvSpPr>
        <p:spPr>
          <a:xfrm>
            <a:off x="685800" y="6019800"/>
            <a:ext cx="6667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0">
                <a:solidFill>
                  <a:srgbClr val="5D636B"/>
                </a:solidFill>
              </a:defRPr>
            </a:pPr>
            <a:r>
              <a:rPr sz="900" b="0">
                <a:solidFill>
                  <a:srgbClr val="5D636B"/>
                </a:solidFill>
              </a:rPr>
              <a:t>Sources: Henning &amp; Hasselbring (2024); Meijer et al. (2024)</a:t>
            </a:r>
          </a:p>
        </p:txBody>
      </p:sp>
    </p:spTree>
    <p:extLst>
      <p:ext uri="{BB962C8B-B14F-4D97-AF65-F5344CB8AC3E}">
        <p14:creationId xmlns:p14="http://schemas.microsoft.com/office/powerpoint/2010/main" val="10471241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80EA9AFE-C6F3-4DB9-B27E-DB12477479D3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RESEARCH DIRECTION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7FFC37-4400-45CF-AB6F-26B63C350F4D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47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Three questions lead to one measurable aim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6144FA0F-6678-434C-A602-B00AE2A6A953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1082040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CDA50AC-64C9-4363-BE11-886D61E42971}"/>
              </a:ext>
            </a:extLst>
          </p:cNvPr>
          <p:cNvSpPr>
            <a:spLocks noGrp="1"/>
          </p:cNvSpPr>
          <p:nvPr/>
        </p:nvSpPr>
        <p:spPr>
          <a:xfrm>
            <a:off x="10648950" y="6419850"/>
            <a:ext cx="857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0">
                <a:solidFill>
                  <a:srgbClr val="5D636B"/>
                </a:solidFill>
              </a:defRPr>
            </a:pPr>
            <a:r>
              <a:rPr sz="900" b="0">
                <a:solidFill>
                  <a:srgbClr val="5D636B"/>
                </a:solidFill>
              </a:rPr>
              <a:t>04 / 13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F815097-A8A7-4F5B-940E-6602543D6DDA}"/>
              </a:ext>
            </a:extLst>
          </p:cNvPr>
          <p:cNvSpPr>
            <a:spLocks noGrp="1"/>
          </p:cNvSpPr>
          <p:nvPr/>
        </p:nvSpPr>
        <p:spPr>
          <a:xfrm>
            <a:off x="685800" y="1581150"/>
            <a:ext cx="3352800" cy="18097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DD8B365-718E-42F8-8C2F-60A919DABDFE}"/>
              </a:ext>
            </a:extLst>
          </p:cNvPr>
          <p:cNvSpPr>
            <a:spLocks noGrp="1"/>
          </p:cNvSpPr>
          <p:nvPr/>
        </p:nvSpPr>
        <p:spPr>
          <a:xfrm>
            <a:off x="914400" y="180975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3D8DFF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D67152-1E1C-4209-A0C5-76DE7151BF53}"/>
              </a:ext>
            </a:extLst>
          </p:cNvPr>
          <p:cNvSpPr>
            <a:spLocks noGrp="1"/>
          </p:cNvSpPr>
          <p:nvPr/>
        </p:nvSpPr>
        <p:spPr>
          <a:xfrm>
            <a:off x="990600" y="1866900"/>
            <a:ext cx="5715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RQ1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A4D4C0-D24E-4115-88AE-2D610A7E8642}"/>
              </a:ext>
            </a:extLst>
          </p:cNvPr>
          <p:cNvSpPr>
            <a:spLocks noGrp="1"/>
          </p:cNvSpPr>
          <p:nvPr/>
        </p:nvSpPr>
        <p:spPr>
          <a:xfrm>
            <a:off x="914400" y="2324100"/>
            <a:ext cx="28956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What TPS can the original system sustain?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BCD603F-F3E5-4500-9171-0741423F65BD}"/>
              </a:ext>
            </a:extLst>
          </p:cNvPr>
          <p:cNvSpPr>
            <a:spLocks noGrp="1"/>
          </p:cNvSpPr>
          <p:nvPr/>
        </p:nvSpPr>
        <p:spPr>
          <a:xfrm>
            <a:off x="4343400" y="1581150"/>
            <a:ext cx="3352800" cy="18097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8D0064C-D73E-40B6-BA53-ABF9419320A3}"/>
              </a:ext>
            </a:extLst>
          </p:cNvPr>
          <p:cNvSpPr>
            <a:spLocks noGrp="1"/>
          </p:cNvSpPr>
          <p:nvPr/>
        </p:nvSpPr>
        <p:spPr>
          <a:xfrm>
            <a:off x="4572000" y="180975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3D8DFF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3A7272-E27D-4968-A6A9-FC96A0D9A2F6}"/>
              </a:ext>
            </a:extLst>
          </p:cNvPr>
          <p:cNvSpPr>
            <a:spLocks noGrp="1"/>
          </p:cNvSpPr>
          <p:nvPr/>
        </p:nvSpPr>
        <p:spPr>
          <a:xfrm>
            <a:off x="4648200" y="1866900"/>
            <a:ext cx="5715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RQ2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E8D6C84-D327-4230-84D3-6AF009ADA7D5}"/>
              </a:ext>
            </a:extLst>
          </p:cNvPr>
          <p:cNvSpPr>
            <a:spLocks noGrp="1"/>
          </p:cNvSpPr>
          <p:nvPr/>
        </p:nvSpPr>
        <p:spPr>
          <a:xfrm>
            <a:off x="4572000" y="2324100"/>
            <a:ext cx="28956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Which techniques increase sustainable TPS—and by how much?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F87799-9492-4685-9353-4973824BC282}"/>
              </a:ext>
            </a:extLst>
          </p:cNvPr>
          <p:cNvSpPr>
            <a:spLocks noGrp="1"/>
          </p:cNvSpPr>
          <p:nvPr/>
        </p:nvSpPr>
        <p:spPr>
          <a:xfrm>
            <a:off x="8001000" y="1581150"/>
            <a:ext cx="3352800" cy="18097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12F37BF-260B-42C1-AF6A-300F1B5F1347}"/>
              </a:ext>
            </a:extLst>
          </p:cNvPr>
          <p:cNvSpPr>
            <a:spLocks noGrp="1"/>
          </p:cNvSpPr>
          <p:nvPr/>
        </p:nvSpPr>
        <p:spPr>
          <a:xfrm>
            <a:off x="8229600" y="180975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3D8DFF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55A3E40-2CBA-4975-8D7E-1452242E4933}"/>
              </a:ext>
            </a:extLst>
          </p:cNvPr>
          <p:cNvSpPr>
            <a:spLocks noGrp="1"/>
          </p:cNvSpPr>
          <p:nvPr/>
        </p:nvSpPr>
        <p:spPr>
          <a:xfrm>
            <a:off x="8305800" y="1866900"/>
            <a:ext cx="5715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RQ3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06AC533-5D35-4492-A32B-8DBF6433DC36}"/>
              </a:ext>
            </a:extLst>
          </p:cNvPr>
          <p:cNvSpPr>
            <a:spLocks noGrp="1"/>
          </p:cNvSpPr>
          <p:nvPr/>
        </p:nvSpPr>
        <p:spPr>
          <a:xfrm>
            <a:off x="8229600" y="2324100"/>
            <a:ext cx="28956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What is the highest sustainable TPS achieved?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B19CFCE-14B3-48E5-AEDD-D4B364FEDB59}"/>
              </a:ext>
            </a:extLst>
          </p:cNvPr>
          <p:cNvSpPr>
            <a:spLocks noGrp="1"/>
          </p:cNvSpPr>
          <p:nvPr/>
        </p:nvSpPr>
        <p:spPr>
          <a:xfrm>
            <a:off x="1676400" y="4095750"/>
            <a:ext cx="8839200" cy="914400"/>
          </a:xfrm>
          <a:prstGeom prst="rect">
            <a:avLst/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A28827-2166-4DD4-8640-DDA2AFFAA8AA}"/>
              </a:ext>
            </a:extLst>
          </p:cNvPr>
          <p:cNvSpPr>
            <a:spLocks noGrp="1"/>
          </p:cNvSpPr>
          <p:nvPr/>
        </p:nvSpPr>
        <p:spPr>
          <a:xfrm>
            <a:off x="1943100" y="439102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6DCBF4"/>
                </a:solidFill>
              </a:defRPr>
            </a:pPr>
            <a:r>
              <a:rPr sz="1125" b="1">
                <a:solidFill>
                  <a:srgbClr val="6DCBF4"/>
                </a:solidFill>
              </a:rPr>
              <a:t>AIM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B89105B-A907-4852-8CF7-0220525DEC68}"/>
              </a:ext>
            </a:extLst>
          </p:cNvPr>
          <p:cNvSpPr>
            <a:spLocks noGrp="1"/>
          </p:cNvSpPr>
          <p:nvPr/>
        </p:nvSpPr>
        <p:spPr>
          <a:xfrm>
            <a:off x="2781300" y="4276725"/>
            <a:ext cx="7334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Maximise the sustainable TPS of the selected Java transaction-processing system.</a:t>
            </a:r>
          </a:p>
        </p:txBody>
      </p:sp>
      <p:cxnSp>
        <p:nvCxnSpPr>
          <p:cNvPr id="88" name="Straight Arrow Connector 87"/>
          <p:cNvCxnSpPr>
            <a:stCxn id="9" idx="2"/>
            <a:endCxn id="17" idx="0"/>
          </p:cNvCxnSpPr>
          <p:nvPr/>
        </p:nvCxnSpPr>
        <p:spPr>
          <a:xfrm>
            <a:off x="6019800" y="3390900"/>
            <a:ext cx="76200" cy="704850"/>
          </a:xfrm>
          <a:prstGeom prst="straightConnector1">
            <a:avLst/>
          </a:prstGeom>
          <a:ln w="19050">
            <a:solidFill>
              <a:srgbClr val="3D8DFF"/>
            </a:solidFill>
            <a:prstDash val="solid"/>
            <a:tailEnd type="arrow" w="med" len="med"/>
          </a:ln>
        </p:spPr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F7AA2F5-6DFA-4C7E-BB57-C3D9AC6EB0B5}"/>
              </a:ext>
            </a:extLst>
          </p:cNvPr>
          <p:cNvSpPr>
            <a:spLocks noGrp="1"/>
          </p:cNvSpPr>
          <p:nvPr/>
        </p:nvSpPr>
        <p:spPr>
          <a:xfrm>
            <a:off x="1200150" y="5467350"/>
            <a:ext cx="2266950" cy="400050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BD824E7-7239-4D68-8AAE-40AB47215CBD}"/>
              </a:ext>
            </a:extLst>
          </p:cNvPr>
          <p:cNvSpPr>
            <a:spLocks noGrp="1"/>
          </p:cNvSpPr>
          <p:nvPr/>
        </p:nvSpPr>
        <p:spPr>
          <a:xfrm>
            <a:off x="1276350" y="5524500"/>
            <a:ext cx="21145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111111"/>
                </a:solidFill>
              </a:defRPr>
            </a:pPr>
            <a:r>
              <a:rPr sz="1125" b="1">
                <a:solidFill>
                  <a:srgbClr val="111111"/>
                </a:solidFill>
              </a:rPr>
              <a:t>1. Measure baseline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43A29FE-47CD-4EB1-8EB1-0AB49E2AC546}"/>
              </a:ext>
            </a:extLst>
          </p:cNvPr>
          <p:cNvSpPr>
            <a:spLocks noGrp="1"/>
          </p:cNvSpPr>
          <p:nvPr/>
        </p:nvSpPr>
        <p:spPr>
          <a:xfrm>
            <a:off x="3771900" y="5467350"/>
            <a:ext cx="2266950" cy="400050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1219E80-5E0A-424F-BFB0-4BECF7789E24}"/>
              </a:ext>
            </a:extLst>
          </p:cNvPr>
          <p:cNvSpPr>
            <a:spLocks noGrp="1"/>
          </p:cNvSpPr>
          <p:nvPr/>
        </p:nvSpPr>
        <p:spPr>
          <a:xfrm>
            <a:off x="3848100" y="5524500"/>
            <a:ext cx="21145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111111"/>
                </a:solidFill>
              </a:defRPr>
            </a:pPr>
            <a:r>
              <a:rPr sz="1125" b="1">
                <a:solidFill>
                  <a:srgbClr val="111111"/>
                </a:solidFill>
              </a:rPr>
              <a:t>2. Select techniques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8E9898FD-D3A4-49F5-8E38-ED16D1C27BA5}"/>
              </a:ext>
            </a:extLst>
          </p:cNvPr>
          <p:cNvSpPr>
            <a:spLocks noGrp="1"/>
          </p:cNvSpPr>
          <p:nvPr/>
        </p:nvSpPr>
        <p:spPr>
          <a:xfrm>
            <a:off x="6343650" y="5467350"/>
            <a:ext cx="2266950" cy="400050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E89829-1123-42AB-9033-0E4F0F9461A5}"/>
              </a:ext>
            </a:extLst>
          </p:cNvPr>
          <p:cNvSpPr>
            <a:spLocks noGrp="1"/>
          </p:cNvSpPr>
          <p:nvPr/>
        </p:nvSpPr>
        <p:spPr>
          <a:xfrm>
            <a:off x="6419850" y="5524500"/>
            <a:ext cx="21145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111111"/>
                </a:solidFill>
              </a:defRPr>
            </a:pPr>
            <a:r>
              <a:rPr sz="1125" b="1">
                <a:solidFill>
                  <a:srgbClr val="111111"/>
                </a:solidFill>
              </a:rPr>
              <a:t>3. Apply changes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68F5DA9D-3DFC-4A25-BAF3-AC4FF2982B76}"/>
              </a:ext>
            </a:extLst>
          </p:cNvPr>
          <p:cNvSpPr>
            <a:spLocks noGrp="1"/>
          </p:cNvSpPr>
          <p:nvPr/>
        </p:nvSpPr>
        <p:spPr>
          <a:xfrm>
            <a:off x="8915400" y="5467350"/>
            <a:ext cx="2266950" cy="400050"/>
          </a:xfrm>
          <a:prstGeom prst="roundRect">
            <a:avLst>
              <a:gd name="adj" fmla="val 50000"/>
            </a:avLst>
          </a:prstGeom>
          <a:solidFill>
            <a:srgbClr val="3D8DFF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CC762E5-055F-4C3B-B804-E8CD9AAECC69}"/>
              </a:ext>
            </a:extLst>
          </p:cNvPr>
          <p:cNvSpPr>
            <a:spLocks noGrp="1"/>
          </p:cNvSpPr>
          <p:nvPr/>
        </p:nvSpPr>
        <p:spPr>
          <a:xfrm>
            <a:off x="8991600" y="5524500"/>
            <a:ext cx="21145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4. Verify highest TPS</a:t>
            </a:r>
          </a:p>
        </p:txBody>
      </p:sp>
    </p:spTree>
    <p:extLst>
      <p:ext uri="{BB962C8B-B14F-4D97-AF65-F5344CB8AC3E}">
        <p14:creationId xmlns:p14="http://schemas.microsoft.com/office/powerpoint/2010/main" val="173360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ED772D9E-9D5F-46EC-B6DB-3154AFD5924B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EXPERIMENTAL SYSTEM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EB1D89D-23FE-4182-961C-3D8163976B28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47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Exchange Lab models a verifiable limit-order transaction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1349312B-77F5-4C3F-A6BA-B64823C0F7AE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1082040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921E17C-44F3-4778-8280-FBD25E0440C7}"/>
              </a:ext>
            </a:extLst>
          </p:cNvPr>
          <p:cNvSpPr>
            <a:spLocks noGrp="1"/>
          </p:cNvSpPr>
          <p:nvPr/>
        </p:nvSpPr>
        <p:spPr>
          <a:xfrm>
            <a:off x="10648950" y="6419850"/>
            <a:ext cx="857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0">
                <a:solidFill>
                  <a:srgbClr val="5D636B"/>
                </a:solidFill>
              </a:defRPr>
            </a:pPr>
            <a:r>
              <a:rPr sz="900" b="0">
                <a:solidFill>
                  <a:srgbClr val="5D636B"/>
                </a:solidFill>
              </a:rPr>
              <a:t>05 / 13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98ADA3-1D78-465E-92DD-1C537608347C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906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5D636B"/>
                </a:solidFill>
              </a:defRPr>
            </a:pPr>
            <a:r>
              <a:rPr sz="1500" b="0">
                <a:solidFill>
                  <a:srgbClr val="5D636B"/>
                </a:solidFill>
              </a:rPr>
              <a:t>Synthetic traders submit limit buy and sell orders. Every order can be traced from intake to final cash and stock settlement.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0AA6DB-9E88-475A-AEF6-D6CC43DA4690}"/>
              </a:ext>
            </a:extLst>
          </p:cNvPr>
          <p:cNvSpPr>
            <a:spLocks noGrp="1"/>
          </p:cNvSpPr>
          <p:nvPr/>
        </p:nvSpPr>
        <p:spPr>
          <a:xfrm>
            <a:off x="685800" y="2476500"/>
            <a:ext cx="1524000" cy="15811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FFE9BD-8F97-47B1-B7CB-91F6E7F92E7D}"/>
              </a:ext>
            </a:extLst>
          </p:cNvPr>
          <p:cNvSpPr>
            <a:spLocks noGrp="1"/>
          </p:cNvSpPr>
          <p:nvPr/>
        </p:nvSpPr>
        <p:spPr>
          <a:xfrm>
            <a:off x="857250" y="2667000"/>
            <a:ext cx="342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39B431D-53A9-4BA6-89A1-A0A88254D484}"/>
              </a:ext>
            </a:extLst>
          </p:cNvPr>
          <p:cNvSpPr>
            <a:spLocks noGrp="1"/>
          </p:cNvSpPr>
          <p:nvPr/>
        </p:nvSpPr>
        <p:spPr>
          <a:xfrm>
            <a:off x="857250" y="3067050"/>
            <a:ext cx="1181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Submit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1E2FBDA-B99A-4A49-9A25-666316DBEFA6}"/>
              </a:ext>
            </a:extLst>
          </p:cNvPr>
          <p:cNvSpPr>
            <a:spLocks noGrp="1"/>
          </p:cNvSpPr>
          <p:nvPr/>
        </p:nvSpPr>
        <p:spPr>
          <a:xfrm>
            <a:off x="857250" y="3505200"/>
            <a:ext cx="1181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5D636B"/>
                </a:solidFill>
              </a:defRPr>
            </a:pPr>
            <a:r>
              <a:rPr sz="1125" b="0">
                <a:solidFill>
                  <a:srgbClr val="5D636B"/>
                </a:solidFill>
              </a:rPr>
              <a:t>symbol · quantity</a:t>
            </a:r>
          </a:p>
          <a:p>
            <a:pPr algn="l">
              <a:buNone/>
              <a:defRPr sz="1125" b="0">
                <a:solidFill>
                  <a:srgbClr val="5D636B"/>
                </a:solidFill>
              </a:defRPr>
            </a:pPr>
            <a:r>
              <a:rPr sz="1125" b="0">
                <a:solidFill>
                  <a:srgbClr val="5D636B"/>
                </a:solidFill>
              </a:rPr>
              <a:t>limit price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4F9C3BB-94DD-4D16-AC3D-A29BDD4801D3}"/>
              </a:ext>
            </a:extLst>
          </p:cNvPr>
          <p:cNvSpPr>
            <a:spLocks noGrp="1"/>
          </p:cNvSpPr>
          <p:nvPr/>
        </p:nvSpPr>
        <p:spPr>
          <a:xfrm>
            <a:off x="2495550" y="2476500"/>
            <a:ext cx="1524000" cy="15811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862A5CA-5FCA-4D38-8C46-1D46597C4555}"/>
              </a:ext>
            </a:extLst>
          </p:cNvPr>
          <p:cNvSpPr>
            <a:spLocks noGrp="1"/>
          </p:cNvSpPr>
          <p:nvPr/>
        </p:nvSpPr>
        <p:spPr>
          <a:xfrm>
            <a:off x="2667000" y="2667000"/>
            <a:ext cx="342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C2D5219-1DC9-4F33-BA2A-CE9F26FA452A}"/>
              </a:ext>
            </a:extLst>
          </p:cNvPr>
          <p:cNvSpPr>
            <a:spLocks noGrp="1"/>
          </p:cNvSpPr>
          <p:nvPr/>
        </p:nvSpPr>
        <p:spPr>
          <a:xfrm>
            <a:off x="2667000" y="3067050"/>
            <a:ext cx="1181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Reserve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B17D6AF-3E15-495D-B382-6162704B30D1}"/>
              </a:ext>
            </a:extLst>
          </p:cNvPr>
          <p:cNvSpPr>
            <a:spLocks noGrp="1"/>
          </p:cNvSpPr>
          <p:nvPr/>
        </p:nvSpPr>
        <p:spPr>
          <a:xfrm>
            <a:off x="2667000" y="3505200"/>
            <a:ext cx="1181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5D636B"/>
                </a:solidFill>
              </a:defRPr>
            </a:pPr>
            <a:r>
              <a:rPr sz="1125" b="0">
                <a:solidFill>
                  <a:srgbClr val="5D636B"/>
                </a:solidFill>
              </a:rPr>
              <a:t>cash or stock</a:t>
            </a:r>
          </a:p>
        </p:txBody>
      </p:sp>
      <p:cxnSp>
        <p:nvCxnSpPr>
          <p:cNvPr id="119" name="Straight Arrow Connector 118"/>
          <p:cNvCxnSpPr>
            <a:stCxn id="6" idx="3"/>
            <a:endCxn id="10" idx="1"/>
          </p:cNvCxnSpPr>
          <p:nvPr/>
        </p:nvCxnSpPr>
        <p:spPr>
          <a:xfrm>
            <a:off x="2209800" y="3267075"/>
            <a:ext cx="285750" cy="0"/>
          </a:xfrm>
          <a:prstGeom prst="straightConnector1">
            <a:avLst/>
          </a:prstGeom>
          <a:ln w="19050">
            <a:solidFill>
              <a:srgbClr val="3D8DFF"/>
            </a:solidFill>
            <a:prstDash val="solid"/>
            <a:tailEnd type="arrow" w="med" len="med"/>
          </a:ln>
        </p:spPr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BEEA4C13-DC85-4412-82A3-D797EEF89121}"/>
              </a:ext>
            </a:extLst>
          </p:cNvPr>
          <p:cNvSpPr>
            <a:spLocks noGrp="1"/>
          </p:cNvSpPr>
          <p:nvPr/>
        </p:nvSpPr>
        <p:spPr>
          <a:xfrm>
            <a:off x="4305300" y="2476500"/>
            <a:ext cx="1524000" cy="15811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74F578D-862C-42B7-8DCA-C165DC06A74D}"/>
              </a:ext>
            </a:extLst>
          </p:cNvPr>
          <p:cNvSpPr>
            <a:spLocks noGrp="1"/>
          </p:cNvSpPr>
          <p:nvPr/>
        </p:nvSpPr>
        <p:spPr>
          <a:xfrm>
            <a:off x="4476750" y="2667000"/>
            <a:ext cx="342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03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FACC2B-D9B2-4B38-951A-0FB6542B172E}"/>
              </a:ext>
            </a:extLst>
          </p:cNvPr>
          <p:cNvSpPr>
            <a:spLocks noGrp="1"/>
          </p:cNvSpPr>
          <p:nvPr/>
        </p:nvSpPr>
        <p:spPr>
          <a:xfrm>
            <a:off x="4476750" y="3067050"/>
            <a:ext cx="1181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Match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6EAA981-EE95-4E73-8102-852C3EB8EC2C}"/>
              </a:ext>
            </a:extLst>
          </p:cNvPr>
          <p:cNvSpPr>
            <a:spLocks noGrp="1"/>
          </p:cNvSpPr>
          <p:nvPr/>
        </p:nvSpPr>
        <p:spPr>
          <a:xfrm>
            <a:off x="4476750" y="3505200"/>
            <a:ext cx="1181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5D636B"/>
                </a:solidFill>
              </a:defRPr>
            </a:pPr>
            <a:r>
              <a:rPr sz="1125" b="0">
                <a:solidFill>
                  <a:srgbClr val="5D636B"/>
                </a:solidFill>
              </a:rPr>
              <a:t>price–time priority</a:t>
            </a:r>
          </a:p>
        </p:txBody>
      </p:sp>
      <p:cxnSp>
        <p:nvCxnSpPr>
          <p:cNvPr id="124" name="Straight Arrow Connector 123"/>
          <p:cNvCxnSpPr>
            <a:stCxn id="10" idx="3"/>
            <a:endCxn id="15" idx="1"/>
          </p:cNvCxnSpPr>
          <p:nvPr/>
        </p:nvCxnSpPr>
        <p:spPr>
          <a:xfrm>
            <a:off x="4019550" y="3267075"/>
            <a:ext cx="285750" cy="0"/>
          </a:xfrm>
          <a:prstGeom prst="straightConnector1">
            <a:avLst/>
          </a:prstGeom>
          <a:ln w="19050">
            <a:solidFill>
              <a:srgbClr val="3D8DFF"/>
            </a:solidFill>
            <a:prstDash val="solid"/>
            <a:tailEnd type="arrow" w="med" len="med"/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BECFC2A4-33D9-4F21-8C43-D7F7A4A24C1F}"/>
              </a:ext>
            </a:extLst>
          </p:cNvPr>
          <p:cNvSpPr>
            <a:spLocks noGrp="1"/>
          </p:cNvSpPr>
          <p:nvPr/>
        </p:nvSpPr>
        <p:spPr>
          <a:xfrm>
            <a:off x="6115050" y="2476500"/>
            <a:ext cx="1524000" cy="15811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163FE88-724D-47FF-8CC1-378E1D1F99FC}"/>
              </a:ext>
            </a:extLst>
          </p:cNvPr>
          <p:cNvSpPr>
            <a:spLocks noGrp="1"/>
          </p:cNvSpPr>
          <p:nvPr/>
        </p:nvSpPr>
        <p:spPr>
          <a:xfrm>
            <a:off x="6286500" y="2667000"/>
            <a:ext cx="342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04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304AC2A-8FFB-4EAA-8439-02FEC5C338CB}"/>
              </a:ext>
            </a:extLst>
          </p:cNvPr>
          <p:cNvSpPr>
            <a:spLocks noGrp="1"/>
          </p:cNvSpPr>
          <p:nvPr/>
        </p:nvSpPr>
        <p:spPr>
          <a:xfrm>
            <a:off x="6286500" y="3067050"/>
            <a:ext cx="1181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Record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F399E18-A81F-457E-9B7F-41452305C75A}"/>
              </a:ext>
            </a:extLst>
          </p:cNvPr>
          <p:cNvSpPr>
            <a:spLocks noGrp="1"/>
          </p:cNvSpPr>
          <p:nvPr/>
        </p:nvSpPr>
        <p:spPr>
          <a:xfrm>
            <a:off x="6286500" y="3505200"/>
            <a:ext cx="1181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5D636B"/>
                </a:solidFill>
              </a:defRPr>
            </a:pPr>
            <a:r>
              <a:rPr sz="1125" b="0">
                <a:solidFill>
                  <a:srgbClr val="5D636B"/>
                </a:solidFill>
              </a:rPr>
              <a:t>order and trade</a:t>
            </a:r>
          </a:p>
        </p:txBody>
      </p:sp>
      <p:cxnSp>
        <p:nvCxnSpPr>
          <p:cNvPr id="129" name="Straight Arrow Connector 128"/>
          <p:cNvCxnSpPr>
            <a:stCxn id="15" idx="3"/>
            <a:endCxn id="20" idx="1"/>
          </p:cNvCxnSpPr>
          <p:nvPr/>
        </p:nvCxnSpPr>
        <p:spPr>
          <a:xfrm>
            <a:off x="5829300" y="3267075"/>
            <a:ext cx="285750" cy="0"/>
          </a:xfrm>
          <a:prstGeom prst="straightConnector1">
            <a:avLst/>
          </a:prstGeom>
          <a:ln w="19050">
            <a:solidFill>
              <a:srgbClr val="3D8DFF"/>
            </a:solidFill>
            <a:prstDash val="solid"/>
            <a:tailEnd type="arrow" w="med" len="med"/>
          </a:ln>
        </p:spPr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BDEB29F4-58E6-4E31-BC5D-84EB24AA5959}"/>
              </a:ext>
            </a:extLst>
          </p:cNvPr>
          <p:cNvSpPr>
            <a:spLocks noGrp="1"/>
          </p:cNvSpPr>
          <p:nvPr/>
        </p:nvSpPr>
        <p:spPr>
          <a:xfrm>
            <a:off x="7924800" y="2476500"/>
            <a:ext cx="1524000" cy="15811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B0C6267-5ACD-436A-8671-8C6D686D26A1}"/>
              </a:ext>
            </a:extLst>
          </p:cNvPr>
          <p:cNvSpPr>
            <a:spLocks noGrp="1"/>
          </p:cNvSpPr>
          <p:nvPr/>
        </p:nvSpPr>
        <p:spPr>
          <a:xfrm>
            <a:off x="8096250" y="2667000"/>
            <a:ext cx="342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05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4A28F7D-BEAF-41A5-A84B-6A0BB3A7CF65}"/>
              </a:ext>
            </a:extLst>
          </p:cNvPr>
          <p:cNvSpPr>
            <a:spLocks noGrp="1"/>
          </p:cNvSpPr>
          <p:nvPr/>
        </p:nvSpPr>
        <p:spPr>
          <a:xfrm>
            <a:off x="8096250" y="3067050"/>
            <a:ext cx="1181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Settle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8EF4972-A84D-4890-8112-4F3EB0E98A94}"/>
              </a:ext>
            </a:extLst>
          </p:cNvPr>
          <p:cNvSpPr>
            <a:spLocks noGrp="1"/>
          </p:cNvSpPr>
          <p:nvPr/>
        </p:nvSpPr>
        <p:spPr>
          <a:xfrm>
            <a:off x="8096250" y="3505200"/>
            <a:ext cx="1181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5D636B"/>
                </a:solidFill>
              </a:defRPr>
            </a:pPr>
            <a:r>
              <a:rPr sz="1125" b="0">
                <a:solidFill>
                  <a:srgbClr val="5D636B"/>
                </a:solidFill>
              </a:rPr>
              <a:t>cash and stock</a:t>
            </a:r>
          </a:p>
        </p:txBody>
      </p:sp>
      <p:cxnSp>
        <p:nvCxnSpPr>
          <p:cNvPr id="134" name="Straight Arrow Connector 133"/>
          <p:cNvCxnSpPr>
            <a:stCxn id="20" idx="3"/>
            <a:endCxn id="25" idx="1"/>
          </p:cNvCxnSpPr>
          <p:nvPr/>
        </p:nvCxnSpPr>
        <p:spPr>
          <a:xfrm>
            <a:off x="7639050" y="3267075"/>
            <a:ext cx="285750" cy="0"/>
          </a:xfrm>
          <a:prstGeom prst="straightConnector1">
            <a:avLst/>
          </a:prstGeom>
          <a:ln w="19050">
            <a:solidFill>
              <a:srgbClr val="3D8DFF"/>
            </a:solidFill>
            <a:prstDash val="solid"/>
            <a:tailEnd type="arrow" w="med" len="med"/>
          </a:ln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2B94050-63FF-4DDB-986B-45DC90BB0D64}"/>
              </a:ext>
            </a:extLst>
          </p:cNvPr>
          <p:cNvSpPr>
            <a:spLocks noGrp="1"/>
          </p:cNvSpPr>
          <p:nvPr/>
        </p:nvSpPr>
        <p:spPr>
          <a:xfrm>
            <a:off x="9734550" y="2476500"/>
            <a:ext cx="1524000" cy="1581150"/>
          </a:xfrm>
          <a:prstGeom prst="rect">
            <a:avLst/>
          </a:prstGeom>
          <a:solidFill>
            <a:srgbClr val="E9F7FD"/>
          </a:solidFill>
          <a:ln w="9525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6B9B71A-2CD9-4879-A2B9-D1F352D1137A}"/>
              </a:ext>
            </a:extLst>
          </p:cNvPr>
          <p:cNvSpPr>
            <a:spLocks noGrp="1"/>
          </p:cNvSpPr>
          <p:nvPr/>
        </p:nvSpPr>
        <p:spPr>
          <a:xfrm>
            <a:off x="9906000" y="2667000"/>
            <a:ext cx="342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06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868916C-729A-40BA-BE03-5A5F05C792E1}"/>
              </a:ext>
            </a:extLst>
          </p:cNvPr>
          <p:cNvSpPr>
            <a:spLocks noGrp="1"/>
          </p:cNvSpPr>
          <p:nvPr/>
        </p:nvSpPr>
        <p:spPr>
          <a:xfrm>
            <a:off x="9906000" y="3067050"/>
            <a:ext cx="1181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Complete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5D094F-BFFC-4D22-9AA1-572755CBB4AA}"/>
              </a:ext>
            </a:extLst>
          </p:cNvPr>
          <p:cNvSpPr>
            <a:spLocks noGrp="1"/>
          </p:cNvSpPr>
          <p:nvPr/>
        </p:nvSpPr>
        <p:spPr>
          <a:xfrm>
            <a:off x="9906000" y="3505200"/>
            <a:ext cx="1181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5D636B"/>
                </a:solidFill>
              </a:defRPr>
            </a:pPr>
            <a:r>
              <a:rPr sz="1125" b="0">
                <a:solidFill>
                  <a:srgbClr val="5D636B"/>
                </a:solidFill>
              </a:rPr>
              <a:t>verified state</a:t>
            </a:r>
          </a:p>
        </p:txBody>
      </p:sp>
      <p:cxnSp>
        <p:nvCxnSpPr>
          <p:cNvPr id="139" name="Straight Arrow Connector 138"/>
          <p:cNvCxnSpPr>
            <a:stCxn id="25" idx="3"/>
            <a:endCxn id="30" idx="1"/>
          </p:cNvCxnSpPr>
          <p:nvPr/>
        </p:nvCxnSpPr>
        <p:spPr>
          <a:xfrm>
            <a:off x="9448800" y="3267075"/>
            <a:ext cx="285750" cy="0"/>
          </a:xfrm>
          <a:prstGeom prst="straightConnector1">
            <a:avLst/>
          </a:prstGeom>
          <a:ln w="19050">
            <a:solidFill>
              <a:srgbClr val="3D8DFF"/>
            </a:solidFill>
            <a:prstDash val="solid"/>
            <a:tailEnd type="arrow" w="med" len="med"/>
          </a:ln>
        </p:spPr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2E55E10B-A674-42B6-8737-8B334BEAAEC7}"/>
              </a:ext>
            </a:extLst>
          </p:cNvPr>
          <p:cNvSpPr>
            <a:spLocks noGrp="1"/>
          </p:cNvSpPr>
          <p:nvPr/>
        </p:nvSpPr>
        <p:spPr>
          <a:xfrm>
            <a:off x="685800" y="4686300"/>
            <a:ext cx="10820400" cy="990600"/>
          </a:xfrm>
          <a:prstGeom prst="rect">
            <a:avLst/>
          </a:prstGeom>
          <a:solidFill>
            <a:srgbClr val="EDEDED"/>
          </a:solidFill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8892F2A-22AB-4D05-9C7E-5FA7671F9CD8}"/>
              </a:ext>
            </a:extLst>
          </p:cNvPr>
          <p:cNvSpPr>
            <a:spLocks noGrp="1"/>
          </p:cNvSpPr>
          <p:nvPr/>
        </p:nvSpPr>
        <p:spPr>
          <a:xfrm>
            <a:off x="933450" y="4943475"/>
            <a:ext cx="2209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Why this testbed works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A5B2CE0-5BD6-4981-B87E-B7C31C11028B}"/>
              </a:ext>
            </a:extLst>
          </p:cNvPr>
          <p:cNvSpPr>
            <a:spLocks noGrp="1"/>
          </p:cNvSpPr>
          <p:nvPr/>
        </p:nvSpPr>
        <p:spPr>
          <a:xfrm>
            <a:off x="3105150" y="4857750"/>
            <a:ext cx="78676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The workflow is concurrent, stateful, and correctness-sensitive—so unfinished or incorrect work cannot be mistaken for throughput.</a:t>
            </a:r>
          </a:p>
        </p:txBody>
      </p:sp>
    </p:spTree>
    <p:extLst>
      <p:ext uri="{BB962C8B-B14F-4D97-AF65-F5344CB8AC3E}">
        <p14:creationId xmlns:p14="http://schemas.microsoft.com/office/powerpoint/2010/main" val="9079992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5D10F19B-F3ED-4949-B8E5-D4545E51C6F6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EXPERIMENTAL DESIGN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378387C-95D0-49A3-B973-18E80471BAFE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47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A rate passes only when all three gates pass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47C3FE0C-C8DC-4BCF-ABC9-328EFCF1D3F0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1082040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1888BC-A882-492C-ABA8-CE6B055CB509}"/>
              </a:ext>
            </a:extLst>
          </p:cNvPr>
          <p:cNvSpPr>
            <a:spLocks noGrp="1"/>
          </p:cNvSpPr>
          <p:nvPr/>
        </p:nvSpPr>
        <p:spPr>
          <a:xfrm>
            <a:off x="10648950" y="6419850"/>
            <a:ext cx="857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0">
                <a:solidFill>
                  <a:srgbClr val="5D636B"/>
                </a:solidFill>
              </a:defRPr>
            </a:pPr>
            <a:r>
              <a:rPr sz="900" b="0">
                <a:solidFill>
                  <a:srgbClr val="5D636B"/>
                </a:solidFill>
              </a:rPr>
              <a:t>06 / 13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FC3725-FFA6-4528-B9DD-2B0AA27A5F8E}"/>
              </a:ext>
            </a:extLst>
          </p:cNvPr>
          <p:cNvSpPr>
            <a:spLocks noGrp="1"/>
          </p:cNvSpPr>
          <p:nvPr/>
        </p:nvSpPr>
        <p:spPr>
          <a:xfrm>
            <a:off x="685800" y="1657350"/>
            <a:ext cx="3352800" cy="3162300"/>
          </a:xfrm>
          <a:prstGeom prst="rect">
            <a:avLst/>
          </a:prstGeom>
          <a:solidFill>
            <a:srgbClr val="E9F7FD"/>
          </a:solidFill>
          <a:ln w="19050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854F173-CC44-4DEA-AFE3-8B94959FEF2C}"/>
              </a:ext>
            </a:extLst>
          </p:cNvPr>
          <p:cNvSpPr>
            <a:spLocks noGrp="1"/>
          </p:cNvSpPr>
          <p:nvPr/>
        </p:nvSpPr>
        <p:spPr>
          <a:xfrm>
            <a:off x="914400" y="1885950"/>
            <a:ext cx="514350" cy="323850"/>
          </a:xfrm>
          <a:prstGeom prst="roundRect">
            <a:avLst>
              <a:gd name="adj" fmla="val 50000"/>
            </a:avLst>
          </a:prstGeom>
          <a:solidFill>
            <a:srgbClr val="3D8DFF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BF7616-3DA9-4CFC-8033-8D6D254611E0}"/>
              </a:ext>
            </a:extLst>
          </p:cNvPr>
          <p:cNvSpPr>
            <a:spLocks noGrp="1"/>
          </p:cNvSpPr>
          <p:nvPr/>
        </p:nvSpPr>
        <p:spPr>
          <a:xfrm>
            <a:off x="990600" y="1943100"/>
            <a:ext cx="3619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7233A9-ACE8-4477-96AE-E705BD36F3D8}"/>
              </a:ext>
            </a:extLst>
          </p:cNvPr>
          <p:cNvSpPr>
            <a:spLocks noGrp="1"/>
          </p:cNvSpPr>
          <p:nvPr/>
        </p:nvSpPr>
        <p:spPr>
          <a:xfrm>
            <a:off x="1600200" y="1914525"/>
            <a:ext cx="2038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3D8DFF"/>
                </a:solidFill>
              </a:defRPr>
            </a:pPr>
            <a:r>
              <a:rPr sz="1875" b="1">
                <a:solidFill>
                  <a:srgbClr val="3D8DFF"/>
                </a:solidFill>
              </a:rPr>
              <a:t>Throughput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A5709E-0523-44B6-8CC2-F86B3C0FBB72}"/>
              </a:ext>
            </a:extLst>
          </p:cNvPr>
          <p:cNvSpPr>
            <a:spLocks noGrp="1"/>
          </p:cNvSpPr>
          <p:nvPr/>
        </p:nvSpPr>
        <p:spPr>
          <a:xfrm>
            <a:off x="971550" y="2609850"/>
            <a:ext cx="228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✓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70E256-AB9A-48A8-81B4-35B4C15C9392}"/>
              </a:ext>
            </a:extLst>
          </p:cNvPr>
          <p:cNvSpPr>
            <a:spLocks noGrp="1"/>
          </p:cNvSpPr>
          <p:nvPr/>
        </p:nvSpPr>
        <p:spPr>
          <a:xfrm>
            <a:off x="1314450" y="2571750"/>
            <a:ext cx="2400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Target TPS configured in k6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06527A-12A7-4E7D-BE33-EC01E961592A}"/>
              </a:ext>
            </a:extLst>
          </p:cNvPr>
          <p:cNvSpPr>
            <a:spLocks noGrp="1"/>
          </p:cNvSpPr>
          <p:nvPr/>
        </p:nvSpPr>
        <p:spPr>
          <a:xfrm>
            <a:off x="971550" y="3228975"/>
            <a:ext cx="228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✓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E731DCB-805A-4BF9-A226-550E65D98A8A}"/>
              </a:ext>
            </a:extLst>
          </p:cNvPr>
          <p:cNvSpPr>
            <a:spLocks noGrp="1"/>
          </p:cNvSpPr>
          <p:nvPr/>
        </p:nvSpPr>
        <p:spPr>
          <a:xfrm>
            <a:off x="1314450" y="3190875"/>
            <a:ext cx="2400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≥98% complete in-window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B63DD4-E31E-4431-9CEE-74E8C1C91F5B}"/>
              </a:ext>
            </a:extLst>
          </p:cNvPr>
          <p:cNvSpPr>
            <a:spLocks noGrp="1"/>
          </p:cNvSpPr>
          <p:nvPr/>
        </p:nvSpPr>
        <p:spPr>
          <a:xfrm>
            <a:off x="971550" y="3848100"/>
            <a:ext cx="228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✓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9DF9C26-71AE-49D7-B1F6-F64CA774188F}"/>
              </a:ext>
            </a:extLst>
          </p:cNvPr>
          <p:cNvSpPr>
            <a:spLocks noGrp="1"/>
          </p:cNvSpPr>
          <p:nvPr/>
        </p:nvSpPr>
        <p:spPr>
          <a:xfrm>
            <a:off x="1314450" y="3810000"/>
            <a:ext cx="2400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Completed TPS keeps pace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6F72424-9C75-4F6A-861B-434E5AE49890}"/>
              </a:ext>
            </a:extLst>
          </p:cNvPr>
          <p:cNvSpPr>
            <a:spLocks noGrp="1"/>
          </p:cNvSpPr>
          <p:nvPr/>
        </p:nvSpPr>
        <p:spPr>
          <a:xfrm>
            <a:off x="4343400" y="1657350"/>
            <a:ext cx="3352800" cy="3162300"/>
          </a:xfrm>
          <a:prstGeom prst="rect">
            <a:avLst/>
          </a:prstGeom>
          <a:solidFill>
            <a:srgbClr val="FFF2D7"/>
          </a:solidFill>
          <a:ln w="19050">
            <a:solidFill>
              <a:srgbClr val="A7670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E469834-355B-46DF-BD2D-F8EA237FDD04}"/>
              </a:ext>
            </a:extLst>
          </p:cNvPr>
          <p:cNvSpPr>
            <a:spLocks noGrp="1"/>
          </p:cNvSpPr>
          <p:nvPr/>
        </p:nvSpPr>
        <p:spPr>
          <a:xfrm>
            <a:off x="4572000" y="1885950"/>
            <a:ext cx="514350" cy="323850"/>
          </a:xfrm>
          <a:prstGeom prst="roundRect">
            <a:avLst>
              <a:gd name="adj" fmla="val 50000"/>
            </a:avLst>
          </a:prstGeom>
          <a:solidFill>
            <a:srgbClr val="A76700"/>
          </a:solidFill>
          <a:ln w="9525">
            <a:solidFill>
              <a:srgbClr val="A7670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58030DB-94C6-40C7-9B1B-8F6FCE105B62}"/>
              </a:ext>
            </a:extLst>
          </p:cNvPr>
          <p:cNvSpPr>
            <a:spLocks noGrp="1"/>
          </p:cNvSpPr>
          <p:nvPr/>
        </p:nvSpPr>
        <p:spPr>
          <a:xfrm>
            <a:off x="4648200" y="1943100"/>
            <a:ext cx="3619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04202D-B911-420A-84CB-A389007806AA}"/>
              </a:ext>
            </a:extLst>
          </p:cNvPr>
          <p:cNvSpPr>
            <a:spLocks noGrp="1"/>
          </p:cNvSpPr>
          <p:nvPr/>
        </p:nvSpPr>
        <p:spPr>
          <a:xfrm>
            <a:off x="5257800" y="1914525"/>
            <a:ext cx="2038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A76700"/>
                </a:solidFill>
              </a:defRPr>
            </a:pPr>
            <a:r>
              <a:rPr sz="1875" b="1">
                <a:solidFill>
                  <a:srgbClr val="A76700"/>
                </a:solidFill>
              </a:rPr>
              <a:t>Stability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6B53592-45CA-4976-A8B4-FA51631DAEE9}"/>
              </a:ext>
            </a:extLst>
          </p:cNvPr>
          <p:cNvSpPr>
            <a:spLocks noGrp="1"/>
          </p:cNvSpPr>
          <p:nvPr/>
        </p:nvSpPr>
        <p:spPr>
          <a:xfrm>
            <a:off x="4629150" y="2609850"/>
            <a:ext cx="228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A76700"/>
                </a:solidFill>
              </a:defRPr>
            </a:pPr>
            <a:r>
              <a:rPr sz="1350" b="1">
                <a:solidFill>
                  <a:srgbClr val="A76700"/>
                </a:solidFill>
              </a:rPr>
              <a:t>✓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8DD76B9-C53D-480A-8E12-B3C20361A301}"/>
              </a:ext>
            </a:extLst>
          </p:cNvPr>
          <p:cNvSpPr>
            <a:spLocks noGrp="1"/>
          </p:cNvSpPr>
          <p:nvPr/>
        </p:nvSpPr>
        <p:spPr>
          <a:xfrm>
            <a:off x="4972050" y="2571750"/>
            <a:ext cx="2400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Zero unfinished work after drain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246A4CD-1B6D-4F3A-8EDE-56024D89376B}"/>
              </a:ext>
            </a:extLst>
          </p:cNvPr>
          <p:cNvSpPr>
            <a:spLocks noGrp="1"/>
          </p:cNvSpPr>
          <p:nvPr/>
        </p:nvSpPr>
        <p:spPr>
          <a:xfrm>
            <a:off x="4629150" y="3228975"/>
            <a:ext cx="228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A76700"/>
                </a:solidFill>
              </a:defRPr>
            </a:pPr>
            <a:r>
              <a:rPr sz="1350" b="1">
                <a:solidFill>
                  <a:srgbClr val="A76700"/>
                </a:solidFill>
              </a:rPr>
              <a:t>✓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407AAF1-321E-49A5-9E40-B9912CFD140A}"/>
              </a:ext>
            </a:extLst>
          </p:cNvPr>
          <p:cNvSpPr>
            <a:spLocks noGrp="1"/>
          </p:cNvSpPr>
          <p:nvPr/>
        </p:nvSpPr>
        <p:spPr>
          <a:xfrm>
            <a:off x="4972050" y="3190875"/>
            <a:ext cx="2400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Zero Kafka lag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55FF48C-1DF3-4282-96F2-56936491D0B3}"/>
              </a:ext>
            </a:extLst>
          </p:cNvPr>
          <p:cNvSpPr>
            <a:spLocks noGrp="1"/>
          </p:cNvSpPr>
          <p:nvPr/>
        </p:nvSpPr>
        <p:spPr>
          <a:xfrm>
            <a:off x="4629150" y="3848100"/>
            <a:ext cx="228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A76700"/>
                </a:solidFill>
              </a:defRPr>
            </a:pPr>
            <a:r>
              <a:rPr sz="1350" b="1">
                <a:solidFill>
                  <a:srgbClr val="A76700"/>
                </a:solidFill>
              </a:rPr>
              <a:t>✓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F14B682-D4E7-49AB-A5B6-2E5FC5DCBE85}"/>
              </a:ext>
            </a:extLst>
          </p:cNvPr>
          <p:cNvSpPr>
            <a:spLocks noGrp="1"/>
          </p:cNvSpPr>
          <p:nvPr/>
        </p:nvSpPr>
        <p:spPr>
          <a:xfrm>
            <a:off x="4972050" y="3810000"/>
            <a:ext cx="2400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No failed requests or iterations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E4C8785-096D-4B54-AB7C-C52C18DBD109}"/>
              </a:ext>
            </a:extLst>
          </p:cNvPr>
          <p:cNvSpPr>
            <a:spLocks noGrp="1"/>
          </p:cNvSpPr>
          <p:nvPr/>
        </p:nvSpPr>
        <p:spPr>
          <a:xfrm>
            <a:off x="8001000" y="1657350"/>
            <a:ext cx="3352800" cy="3162300"/>
          </a:xfrm>
          <a:prstGeom prst="rect">
            <a:avLst/>
          </a:prstGeom>
          <a:solidFill>
            <a:srgbClr val="E7F5ED"/>
          </a:solidFill>
          <a:ln w="19050">
            <a:solidFill>
              <a:srgbClr val="248A5A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CB5FD47B-9ACE-4A91-B84B-F5AE035FBEDB}"/>
              </a:ext>
            </a:extLst>
          </p:cNvPr>
          <p:cNvSpPr>
            <a:spLocks noGrp="1"/>
          </p:cNvSpPr>
          <p:nvPr/>
        </p:nvSpPr>
        <p:spPr>
          <a:xfrm>
            <a:off x="8229600" y="1885950"/>
            <a:ext cx="514350" cy="323850"/>
          </a:xfrm>
          <a:prstGeom prst="roundRect">
            <a:avLst>
              <a:gd name="adj" fmla="val 50000"/>
            </a:avLst>
          </a:prstGeom>
          <a:solidFill>
            <a:srgbClr val="248A5A"/>
          </a:solidFill>
          <a:ln w="9525">
            <a:solidFill>
              <a:srgbClr val="248A5A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8B7CD28-D9E8-4AA4-B6F7-152CEB909109}"/>
              </a:ext>
            </a:extLst>
          </p:cNvPr>
          <p:cNvSpPr>
            <a:spLocks noGrp="1"/>
          </p:cNvSpPr>
          <p:nvPr/>
        </p:nvSpPr>
        <p:spPr>
          <a:xfrm>
            <a:off x="8305800" y="1943100"/>
            <a:ext cx="3619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57C847C-3202-472F-A720-2DBF3D8BDB0B}"/>
              </a:ext>
            </a:extLst>
          </p:cNvPr>
          <p:cNvSpPr>
            <a:spLocks noGrp="1"/>
          </p:cNvSpPr>
          <p:nvPr/>
        </p:nvSpPr>
        <p:spPr>
          <a:xfrm>
            <a:off x="8915400" y="1914525"/>
            <a:ext cx="2038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248A5A"/>
                </a:solidFill>
              </a:defRPr>
            </a:pPr>
            <a:r>
              <a:rPr sz="1875" b="1">
                <a:solidFill>
                  <a:srgbClr val="248A5A"/>
                </a:solidFill>
              </a:rPr>
              <a:t>Correctness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68677F1-DDBA-4E6C-BF0B-992AA84561DD}"/>
              </a:ext>
            </a:extLst>
          </p:cNvPr>
          <p:cNvSpPr>
            <a:spLocks noGrp="1"/>
          </p:cNvSpPr>
          <p:nvPr/>
        </p:nvSpPr>
        <p:spPr>
          <a:xfrm>
            <a:off x="8286750" y="2609850"/>
            <a:ext cx="228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248A5A"/>
                </a:solidFill>
              </a:defRPr>
            </a:pPr>
            <a:r>
              <a:rPr sz="1350" b="1">
                <a:solidFill>
                  <a:srgbClr val="248A5A"/>
                </a:solidFill>
              </a:rPr>
              <a:t>✓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CFAA567-4CCE-4D44-B4E6-648F653D8B2D}"/>
              </a:ext>
            </a:extLst>
          </p:cNvPr>
          <p:cNvSpPr>
            <a:spLocks noGrp="1"/>
          </p:cNvSpPr>
          <p:nvPr/>
        </p:nvSpPr>
        <p:spPr>
          <a:xfrm>
            <a:off x="8629650" y="2571750"/>
            <a:ext cx="2400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All SQL checks pass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B37AD8F-634C-4F2D-B5A5-017960E07888}"/>
              </a:ext>
            </a:extLst>
          </p:cNvPr>
          <p:cNvSpPr>
            <a:spLocks noGrp="1"/>
          </p:cNvSpPr>
          <p:nvPr/>
        </p:nvSpPr>
        <p:spPr>
          <a:xfrm>
            <a:off x="8286750" y="3228975"/>
            <a:ext cx="228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248A5A"/>
                </a:solidFill>
              </a:defRPr>
            </a:pPr>
            <a:r>
              <a:rPr sz="1350" b="1">
                <a:solidFill>
                  <a:srgbClr val="248A5A"/>
                </a:solidFill>
              </a:rPr>
              <a:t>✓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A9EC1E0-568C-4431-B22B-7E862B8CB3A7}"/>
              </a:ext>
            </a:extLst>
          </p:cNvPr>
          <p:cNvSpPr>
            <a:spLocks noGrp="1"/>
          </p:cNvSpPr>
          <p:nvPr/>
        </p:nvSpPr>
        <p:spPr>
          <a:xfrm>
            <a:off x="8629650" y="3190875"/>
            <a:ext cx="2400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Reservations and balances agree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976C0CF-29FB-4FBA-BE87-E40EEE13DD35}"/>
              </a:ext>
            </a:extLst>
          </p:cNvPr>
          <p:cNvSpPr>
            <a:spLocks noGrp="1"/>
          </p:cNvSpPr>
          <p:nvPr/>
        </p:nvSpPr>
        <p:spPr>
          <a:xfrm>
            <a:off x="8286750" y="3848100"/>
            <a:ext cx="228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248A5A"/>
                </a:solidFill>
              </a:defRPr>
            </a:pPr>
            <a:r>
              <a:rPr sz="1350" b="1">
                <a:solidFill>
                  <a:srgbClr val="248A5A"/>
                </a:solidFill>
              </a:rPr>
              <a:t>✓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1863B76-FD11-4B33-A864-EF135658B0AF}"/>
              </a:ext>
            </a:extLst>
          </p:cNvPr>
          <p:cNvSpPr>
            <a:spLocks noGrp="1"/>
          </p:cNvSpPr>
          <p:nvPr/>
        </p:nvSpPr>
        <p:spPr>
          <a:xfrm>
            <a:off x="8629650" y="3810000"/>
            <a:ext cx="2400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C3 also passes Redis checks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DD32F14-F337-4876-9912-3E2E2E94DC96}"/>
              </a:ext>
            </a:extLst>
          </p:cNvPr>
          <p:cNvSpPr>
            <a:spLocks noGrp="1"/>
          </p:cNvSpPr>
          <p:nvPr/>
        </p:nvSpPr>
        <p:spPr>
          <a:xfrm>
            <a:off x="685800" y="5200650"/>
            <a:ext cx="10820400" cy="685800"/>
          </a:xfrm>
          <a:prstGeom prst="rect">
            <a:avLst/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3E81EFB-9B53-4659-BB75-0CAB81E192C8}"/>
              </a:ext>
            </a:extLst>
          </p:cNvPr>
          <p:cNvSpPr>
            <a:spLocks noGrp="1"/>
          </p:cNvSpPr>
          <p:nvPr/>
        </p:nvSpPr>
        <p:spPr>
          <a:xfrm>
            <a:off x="952500" y="5429250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6DCBF4"/>
                </a:solidFill>
              </a:defRPr>
            </a:pPr>
            <a:r>
              <a:rPr sz="1125" b="1">
                <a:solidFill>
                  <a:srgbClr val="6DCBF4"/>
                </a:solidFill>
              </a:rPr>
              <a:t>SUSTAINABLE TPS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3323BCA-C813-41A9-9F37-C256DF10D1D1}"/>
              </a:ext>
            </a:extLst>
          </p:cNvPr>
          <p:cNvSpPr>
            <a:spLocks noGrp="1"/>
          </p:cNvSpPr>
          <p:nvPr/>
        </p:nvSpPr>
        <p:spPr>
          <a:xfrm>
            <a:off x="2971800" y="5343525"/>
            <a:ext cx="781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Highest target rate that passes at least two confirmation runs.</a:t>
            </a:r>
          </a:p>
        </p:txBody>
      </p:sp>
    </p:spTree>
    <p:extLst>
      <p:ext uri="{BB962C8B-B14F-4D97-AF65-F5344CB8AC3E}">
        <p14:creationId xmlns:p14="http://schemas.microsoft.com/office/powerpoint/2010/main" val="11321228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71861AA2-F429-4C14-82FD-44D176AC3CA2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EXPERIMENTAL CONFIGURATIONS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C52635F-69A0-4415-A4EA-D02093E7B1CC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47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Each stage adds one major technique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A11EDF22-677B-4B32-B39E-51BDE9DE0D00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1082040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CAEE4E-43EC-471F-8FFF-E13C1C4731D3}"/>
              </a:ext>
            </a:extLst>
          </p:cNvPr>
          <p:cNvSpPr>
            <a:spLocks noGrp="1"/>
          </p:cNvSpPr>
          <p:nvPr/>
        </p:nvSpPr>
        <p:spPr>
          <a:xfrm>
            <a:off x="10648950" y="6419850"/>
            <a:ext cx="857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0">
                <a:solidFill>
                  <a:srgbClr val="5D636B"/>
                </a:solidFill>
              </a:defRPr>
            </a:pPr>
            <a:r>
              <a:rPr sz="900" b="0">
                <a:solidFill>
                  <a:srgbClr val="5D636B"/>
                </a:solidFill>
              </a:rPr>
              <a:t>07 / 13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7D65B26-14E6-4B64-8DE0-F3736454173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2438400" cy="33337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7511166-ED5E-4A84-9DDC-7FA2429E1E29}"/>
              </a:ext>
            </a:extLst>
          </p:cNvPr>
          <p:cNvSpPr>
            <a:spLocks noGrp="1"/>
          </p:cNvSpPr>
          <p:nvPr/>
        </p:nvSpPr>
        <p:spPr>
          <a:xfrm>
            <a:off x="914400" y="1943100"/>
            <a:ext cx="647700" cy="323850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E0C885-24CC-4AF8-A3FD-8F8FE43ABC3C}"/>
              </a:ext>
            </a:extLst>
          </p:cNvPr>
          <p:cNvSpPr>
            <a:spLocks noGrp="1"/>
          </p:cNvSpPr>
          <p:nvPr/>
        </p:nvSpPr>
        <p:spPr>
          <a:xfrm>
            <a:off x="990600" y="2000250"/>
            <a:ext cx="4953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C0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D07826-1F78-48AA-8C43-1ACA199F2DD2}"/>
              </a:ext>
            </a:extLst>
          </p:cNvPr>
          <p:cNvSpPr>
            <a:spLocks noGrp="1"/>
          </p:cNvSpPr>
          <p:nvPr/>
        </p:nvSpPr>
        <p:spPr>
          <a:xfrm>
            <a:off x="914400" y="2571750"/>
            <a:ext cx="1981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Synchronous MySQL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3532227-9BDD-41EB-9542-7277B10F9060}"/>
              </a:ext>
            </a:extLst>
          </p:cNvPr>
          <p:cNvSpPr>
            <a:spLocks noGrp="1"/>
          </p:cNvSpPr>
          <p:nvPr/>
        </p:nvSpPr>
        <p:spPr>
          <a:xfrm>
            <a:off x="914400" y="3352800"/>
            <a:ext cx="1981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5D636B"/>
                </a:solidFill>
              </a:defRPr>
            </a:pPr>
            <a:r>
              <a:rPr sz="1350" b="0">
                <a:solidFill>
                  <a:srgbClr val="5D636B"/>
                </a:solidFill>
              </a:rPr>
              <a:t>All steps complete before the API returns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6D15F43-9FB2-4C92-923C-3AF37520EA70}"/>
              </a:ext>
            </a:extLst>
          </p:cNvPr>
          <p:cNvSpPr>
            <a:spLocks noGrp="1"/>
          </p:cNvSpPr>
          <p:nvPr/>
        </p:nvSpPr>
        <p:spPr>
          <a:xfrm>
            <a:off x="914400" y="4514850"/>
            <a:ext cx="1981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1">
                <a:solidFill>
                  <a:srgbClr val="5D636B"/>
                </a:solidFill>
              </a:defRPr>
            </a:pPr>
            <a:r>
              <a:rPr sz="975" b="1">
                <a:solidFill>
                  <a:srgbClr val="5D636B"/>
                </a:solidFill>
              </a:rPr>
              <a:t>BASELINE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C5766C3-8FC8-42CF-9C9F-F297CB213E96}"/>
              </a:ext>
            </a:extLst>
          </p:cNvPr>
          <p:cNvSpPr>
            <a:spLocks noGrp="1"/>
          </p:cNvSpPr>
          <p:nvPr/>
        </p:nvSpPr>
        <p:spPr>
          <a:xfrm>
            <a:off x="3429000" y="1714500"/>
            <a:ext cx="2438400" cy="33337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939EC94-C80F-4E53-9493-89A72F018D86}"/>
              </a:ext>
            </a:extLst>
          </p:cNvPr>
          <p:cNvSpPr>
            <a:spLocks noGrp="1"/>
          </p:cNvSpPr>
          <p:nvPr/>
        </p:nvSpPr>
        <p:spPr>
          <a:xfrm>
            <a:off x="3657600" y="1943100"/>
            <a:ext cx="647700" cy="323850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2D21B92-4B06-4E14-A8C9-5F1CEA103647}"/>
              </a:ext>
            </a:extLst>
          </p:cNvPr>
          <p:cNvSpPr>
            <a:spLocks noGrp="1"/>
          </p:cNvSpPr>
          <p:nvPr/>
        </p:nvSpPr>
        <p:spPr>
          <a:xfrm>
            <a:off x="3733800" y="2000250"/>
            <a:ext cx="4953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C1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AAFE03-EF96-418C-B1C4-5B3ED6C8BB74}"/>
              </a:ext>
            </a:extLst>
          </p:cNvPr>
          <p:cNvSpPr>
            <a:spLocks noGrp="1"/>
          </p:cNvSpPr>
          <p:nvPr/>
        </p:nvSpPr>
        <p:spPr>
          <a:xfrm>
            <a:off x="3657600" y="2571750"/>
            <a:ext cx="1981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Kafka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B9F576F-389D-4845-99E7-0A15232B29F4}"/>
              </a:ext>
            </a:extLst>
          </p:cNvPr>
          <p:cNvSpPr>
            <a:spLocks noGrp="1"/>
          </p:cNvSpPr>
          <p:nvPr/>
        </p:nvSpPr>
        <p:spPr>
          <a:xfrm>
            <a:off x="3657600" y="3352800"/>
            <a:ext cx="1981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5D636B"/>
                </a:solidFill>
              </a:defRPr>
            </a:pPr>
            <a:r>
              <a:rPr sz="1350" b="0">
                <a:solidFill>
                  <a:srgbClr val="5D636B"/>
                </a:solidFill>
              </a:rPr>
              <a:t>Separate intake, matching, and settlement stages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49B7F9-6768-46D2-BB02-40D704941AC8}"/>
              </a:ext>
            </a:extLst>
          </p:cNvPr>
          <p:cNvSpPr>
            <a:spLocks noGrp="1"/>
          </p:cNvSpPr>
          <p:nvPr/>
        </p:nvSpPr>
        <p:spPr>
          <a:xfrm>
            <a:off x="3657600" y="4514850"/>
            <a:ext cx="1981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1">
                <a:solidFill>
                  <a:srgbClr val="5D636B"/>
                </a:solidFill>
              </a:defRPr>
            </a:pPr>
            <a:r>
              <a:rPr sz="975" b="1">
                <a:solidFill>
                  <a:srgbClr val="5D636B"/>
                </a:solidFill>
              </a:rPr>
              <a:t>+ MESSAGING</a:t>
            </a:r>
          </a:p>
        </p:txBody>
      </p:sp>
      <p:cxnSp>
        <p:nvCxnSpPr>
          <p:cNvPr id="111" name="Straight Arrow Connector 110"/>
          <p:cNvCxnSpPr>
            <a:stCxn id="5" idx="3"/>
            <a:endCxn id="11" idx="1"/>
          </p:cNvCxnSpPr>
          <p:nvPr/>
        </p:nvCxnSpPr>
        <p:spPr>
          <a:xfrm>
            <a:off x="3124200" y="3381375"/>
            <a:ext cx="304800" cy="0"/>
          </a:xfrm>
          <a:prstGeom prst="straightConnector1">
            <a:avLst/>
          </a:prstGeom>
          <a:ln w="19050">
            <a:solidFill>
              <a:srgbClr val="3D8DFF"/>
            </a:solidFill>
            <a:prstDash val="solid"/>
            <a:tailEnd type="arrow" w="med" len="med"/>
          </a:ln>
        </p:spPr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82065871-3471-4006-8D71-2CD812294162}"/>
              </a:ext>
            </a:extLst>
          </p:cNvPr>
          <p:cNvSpPr>
            <a:spLocks noGrp="1"/>
          </p:cNvSpPr>
          <p:nvPr/>
        </p:nvSpPr>
        <p:spPr>
          <a:xfrm>
            <a:off x="6172200" y="1714500"/>
            <a:ext cx="2438400" cy="33337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21D17F5-C7EB-429A-952F-1978A485EF61}"/>
              </a:ext>
            </a:extLst>
          </p:cNvPr>
          <p:cNvSpPr>
            <a:spLocks noGrp="1"/>
          </p:cNvSpPr>
          <p:nvPr/>
        </p:nvSpPr>
        <p:spPr>
          <a:xfrm>
            <a:off x="6400800" y="1943100"/>
            <a:ext cx="647700" cy="323850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BE55541-970C-496B-B99C-B16C928BBA04}"/>
              </a:ext>
            </a:extLst>
          </p:cNvPr>
          <p:cNvSpPr>
            <a:spLocks noGrp="1"/>
          </p:cNvSpPr>
          <p:nvPr/>
        </p:nvSpPr>
        <p:spPr>
          <a:xfrm>
            <a:off x="6477000" y="2000250"/>
            <a:ext cx="4953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C2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F8419E1-5D37-49B3-9330-5532C3D3BBA1}"/>
              </a:ext>
            </a:extLst>
          </p:cNvPr>
          <p:cNvSpPr>
            <a:spLocks noGrp="1"/>
          </p:cNvSpPr>
          <p:nvPr/>
        </p:nvSpPr>
        <p:spPr>
          <a:xfrm>
            <a:off x="6400800" y="2571750"/>
            <a:ext cx="1981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In-memory matching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C3C1147-966B-4494-84CE-CCE043FA226F}"/>
              </a:ext>
            </a:extLst>
          </p:cNvPr>
          <p:cNvSpPr>
            <a:spLocks noGrp="1"/>
          </p:cNvSpPr>
          <p:nvPr/>
        </p:nvSpPr>
        <p:spPr>
          <a:xfrm>
            <a:off x="6400800" y="3352800"/>
            <a:ext cx="1981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5D636B"/>
                </a:solidFill>
              </a:defRPr>
            </a:pPr>
            <a:r>
              <a:rPr sz="1350" b="0">
                <a:solidFill>
                  <a:srgbClr val="5D636B"/>
                </a:solidFill>
              </a:rPr>
              <a:t>Rebuild and search a price–time order book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404EE86-B361-49D2-8EF7-E8B5434DCBCC}"/>
              </a:ext>
            </a:extLst>
          </p:cNvPr>
          <p:cNvSpPr>
            <a:spLocks noGrp="1"/>
          </p:cNvSpPr>
          <p:nvPr/>
        </p:nvSpPr>
        <p:spPr>
          <a:xfrm>
            <a:off x="6400800" y="4514850"/>
            <a:ext cx="1981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1">
                <a:solidFill>
                  <a:srgbClr val="5D636B"/>
                </a:solidFill>
              </a:defRPr>
            </a:pPr>
            <a:r>
              <a:rPr sz="975" b="1">
                <a:solidFill>
                  <a:srgbClr val="5D636B"/>
                </a:solidFill>
              </a:rPr>
              <a:t>+ MEMORY</a:t>
            </a:r>
          </a:p>
        </p:txBody>
      </p:sp>
      <p:cxnSp>
        <p:nvCxnSpPr>
          <p:cNvPr id="118" name="Straight Arrow Connector 117"/>
          <p:cNvCxnSpPr>
            <a:stCxn id="11" idx="3"/>
            <a:endCxn id="18" idx="1"/>
          </p:cNvCxnSpPr>
          <p:nvPr/>
        </p:nvCxnSpPr>
        <p:spPr>
          <a:xfrm>
            <a:off x="5867400" y="3381375"/>
            <a:ext cx="304800" cy="0"/>
          </a:xfrm>
          <a:prstGeom prst="straightConnector1">
            <a:avLst/>
          </a:prstGeom>
          <a:ln w="19050">
            <a:solidFill>
              <a:srgbClr val="3D8DFF"/>
            </a:solidFill>
            <a:prstDash val="solid"/>
            <a:tailEnd type="arrow" w="med" len="med"/>
          </a:ln>
        </p:spPr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C6243426-1D78-422B-81B3-E35ADCB4B153}"/>
              </a:ext>
            </a:extLst>
          </p:cNvPr>
          <p:cNvSpPr>
            <a:spLocks noGrp="1"/>
          </p:cNvSpPr>
          <p:nvPr/>
        </p:nvSpPr>
        <p:spPr>
          <a:xfrm>
            <a:off x="8915400" y="1714500"/>
            <a:ext cx="2438400" cy="3333750"/>
          </a:xfrm>
          <a:prstGeom prst="rect">
            <a:avLst/>
          </a:prstGeom>
          <a:solidFill>
            <a:srgbClr val="E9F7FD"/>
          </a:solidFill>
          <a:ln w="19050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C10C8474-8900-4EE4-8433-2221DC841054}"/>
              </a:ext>
            </a:extLst>
          </p:cNvPr>
          <p:cNvSpPr>
            <a:spLocks noGrp="1"/>
          </p:cNvSpPr>
          <p:nvPr/>
        </p:nvSpPr>
        <p:spPr>
          <a:xfrm>
            <a:off x="9144000" y="1943100"/>
            <a:ext cx="647700" cy="323850"/>
          </a:xfrm>
          <a:prstGeom prst="roundRect">
            <a:avLst>
              <a:gd name="adj" fmla="val 50000"/>
            </a:avLst>
          </a:prstGeom>
          <a:solidFill>
            <a:srgbClr val="3D8DFF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F96D1AB-5611-46E4-AC8C-92F5134AEDBB}"/>
              </a:ext>
            </a:extLst>
          </p:cNvPr>
          <p:cNvSpPr>
            <a:spLocks noGrp="1"/>
          </p:cNvSpPr>
          <p:nvPr/>
        </p:nvSpPr>
        <p:spPr>
          <a:xfrm>
            <a:off x="9220200" y="2000250"/>
            <a:ext cx="4953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C3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68918E7-F6E5-4D29-B3EA-16879AFAD6AC}"/>
              </a:ext>
            </a:extLst>
          </p:cNvPr>
          <p:cNvSpPr>
            <a:spLocks noGrp="1"/>
          </p:cNvSpPr>
          <p:nvPr/>
        </p:nvSpPr>
        <p:spPr>
          <a:xfrm>
            <a:off x="9144000" y="2571750"/>
            <a:ext cx="1981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Redis reservation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22E31EF-A0E2-4D6C-ABD0-8A96A2A09D01}"/>
              </a:ext>
            </a:extLst>
          </p:cNvPr>
          <p:cNvSpPr>
            <a:spLocks noGrp="1"/>
          </p:cNvSpPr>
          <p:nvPr/>
        </p:nvSpPr>
        <p:spPr>
          <a:xfrm>
            <a:off x="9144000" y="3352800"/>
            <a:ext cx="1981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5D636B"/>
                </a:solidFill>
              </a:defRPr>
            </a:pPr>
            <a:r>
              <a:rPr sz="1350" b="0">
                <a:solidFill>
                  <a:srgbClr val="5D636B"/>
                </a:solidFill>
              </a:rPr>
              <a:t>Reserve cash and stock before MySQL settlement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6AA2AC4-B39D-41ED-B851-2409782E4753}"/>
              </a:ext>
            </a:extLst>
          </p:cNvPr>
          <p:cNvSpPr>
            <a:spLocks noGrp="1"/>
          </p:cNvSpPr>
          <p:nvPr/>
        </p:nvSpPr>
        <p:spPr>
          <a:xfrm>
            <a:off x="9144000" y="4514850"/>
            <a:ext cx="1981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+ CACHE</a:t>
            </a:r>
          </a:p>
        </p:txBody>
      </p:sp>
      <p:cxnSp>
        <p:nvCxnSpPr>
          <p:cNvPr id="125" name="Straight Arrow Connector 124"/>
          <p:cNvCxnSpPr>
            <a:stCxn id="18" idx="3"/>
            <a:endCxn id="25" idx="1"/>
          </p:cNvCxnSpPr>
          <p:nvPr/>
        </p:nvCxnSpPr>
        <p:spPr>
          <a:xfrm>
            <a:off x="8610600" y="3381375"/>
            <a:ext cx="304800" cy="0"/>
          </a:xfrm>
          <a:prstGeom prst="straightConnector1">
            <a:avLst/>
          </a:prstGeom>
          <a:ln w="19050">
            <a:solidFill>
              <a:srgbClr val="3D8DFF"/>
            </a:solidFill>
            <a:prstDash val="solid"/>
            <a:tailEnd type="arrow" w="med" len="med"/>
          </a:ln>
        </p:spPr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495B9CE0-3F28-4AA0-8364-DD53274BC37B}"/>
              </a:ext>
            </a:extLst>
          </p:cNvPr>
          <p:cNvSpPr>
            <a:spLocks noGrp="1"/>
          </p:cNvSpPr>
          <p:nvPr/>
        </p:nvSpPr>
        <p:spPr>
          <a:xfrm>
            <a:off x="685800" y="5505450"/>
            <a:ext cx="10820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5D636B"/>
                </a:solidFill>
              </a:defRPr>
            </a:pPr>
            <a:r>
              <a:rPr sz="1350" b="1">
                <a:solidFill>
                  <a:srgbClr val="5D636B"/>
                </a:solidFill>
              </a:rPr>
              <a:t>Same workload  ·  Same machine  ·  Same pass rules  ·  Fresh applications at every tested rate</a:t>
            </a:r>
          </a:p>
        </p:txBody>
      </p:sp>
    </p:spTree>
    <p:extLst>
      <p:ext uri="{BB962C8B-B14F-4D97-AF65-F5344CB8AC3E}">
        <p14:creationId xmlns:p14="http://schemas.microsoft.com/office/powerpoint/2010/main" val="1803809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F0FB5ADD-90E1-4349-B5F7-8A88447821A6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EXPERIMENTAL PROCEDURE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DF93271-69C7-44BA-83FC-239F1888EA73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47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Every measured rate uses the same fresh-start protocol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F1D79BB9-AB60-4866-8BBB-F07FD8CDB4C6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1082040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8979E7-A5AF-4020-8377-6208B21834C8}"/>
              </a:ext>
            </a:extLst>
          </p:cNvPr>
          <p:cNvSpPr>
            <a:spLocks noGrp="1"/>
          </p:cNvSpPr>
          <p:nvPr/>
        </p:nvSpPr>
        <p:spPr>
          <a:xfrm>
            <a:off x="10648950" y="6419850"/>
            <a:ext cx="857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0">
                <a:solidFill>
                  <a:srgbClr val="5D636B"/>
                </a:solidFill>
              </a:defRPr>
            </a:pPr>
            <a:r>
              <a:rPr sz="900" b="0">
                <a:solidFill>
                  <a:srgbClr val="5D636B"/>
                </a:solidFill>
              </a:rPr>
              <a:t>08 / 13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971B42-8C94-47B4-AFA1-6CC091E62BA6}"/>
              </a:ext>
            </a:extLst>
          </p:cNvPr>
          <p:cNvSpPr>
            <a:spLocks noGrp="1"/>
          </p:cNvSpPr>
          <p:nvPr/>
        </p:nvSpPr>
        <p:spPr>
          <a:xfrm>
            <a:off x="685800" y="1790700"/>
            <a:ext cx="1924050" cy="297180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94C014-4B6D-45E4-A46D-DAF5F0EA82B2}"/>
              </a:ext>
            </a:extLst>
          </p:cNvPr>
          <p:cNvSpPr>
            <a:spLocks noGrp="1"/>
          </p:cNvSpPr>
          <p:nvPr/>
        </p:nvSpPr>
        <p:spPr>
          <a:xfrm>
            <a:off x="857250" y="2009775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46856FC-801A-4283-8CA1-99E3318CD816}"/>
              </a:ext>
            </a:extLst>
          </p:cNvPr>
          <p:cNvSpPr>
            <a:spLocks noGrp="1"/>
          </p:cNvSpPr>
          <p:nvPr/>
        </p:nvSpPr>
        <p:spPr>
          <a:xfrm>
            <a:off x="857250" y="2457450"/>
            <a:ext cx="15811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Prepare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32D25AC-D366-43D4-9D21-9EB4FC3496D0}"/>
              </a:ext>
            </a:extLst>
          </p:cNvPr>
          <p:cNvSpPr>
            <a:spLocks noGrp="1"/>
          </p:cNvSpPr>
          <p:nvPr/>
        </p:nvSpPr>
        <p:spPr>
          <a:xfrm>
            <a:off x="857250" y="3190875"/>
            <a:ext cx="158115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5D636B"/>
                </a:solidFill>
              </a:defRPr>
            </a:pPr>
            <a:r>
              <a:rPr sz="1275" b="0">
                <a:solidFill>
                  <a:srgbClr val="5D636B"/>
                </a:solidFill>
              </a:rPr>
              <a:t>Stop applications; clear old consumers; reset and seed state.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79055C0-75DF-4D31-B5E2-F4BAC4FE484E}"/>
              </a:ext>
            </a:extLst>
          </p:cNvPr>
          <p:cNvSpPr>
            <a:spLocks noGrp="1"/>
          </p:cNvSpPr>
          <p:nvPr/>
        </p:nvSpPr>
        <p:spPr>
          <a:xfrm>
            <a:off x="2838450" y="1790700"/>
            <a:ext cx="1924050" cy="297180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964033-F1A2-4D0D-9C99-A981D6BB2E53}"/>
              </a:ext>
            </a:extLst>
          </p:cNvPr>
          <p:cNvSpPr>
            <a:spLocks noGrp="1"/>
          </p:cNvSpPr>
          <p:nvPr/>
        </p:nvSpPr>
        <p:spPr>
          <a:xfrm>
            <a:off x="3009900" y="2009775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02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4D5ABC1-00A4-4BB7-9515-E0353AFC7F48}"/>
              </a:ext>
            </a:extLst>
          </p:cNvPr>
          <p:cNvSpPr>
            <a:spLocks noGrp="1"/>
          </p:cNvSpPr>
          <p:nvPr/>
        </p:nvSpPr>
        <p:spPr>
          <a:xfrm>
            <a:off x="3009900" y="2457450"/>
            <a:ext cx="15811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Confirm readiness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DF6B2EE-8AAC-4CAB-83F6-E9BC618196B4}"/>
              </a:ext>
            </a:extLst>
          </p:cNvPr>
          <p:cNvSpPr>
            <a:spLocks noGrp="1"/>
          </p:cNvSpPr>
          <p:nvPr/>
        </p:nvSpPr>
        <p:spPr>
          <a:xfrm>
            <a:off x="3009900" y="3190875"/>
            <a:ext cx="158115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5D636B"/>
                </a:solidFill>
              </a:defRPr>
            </a:pPr>
            <a:r>
              <a:rPr sz="1275" b="0">
                <a:solidFill>
                  <a:srgbClr val="5D636B"/>
                </a:solidFill>
              </a:rPr>
              <a:t>Health passes; partitions assigned; Kafka lag is zero.</a:t>
            </a:r>
          </a:p>
        </p:txBody>
      </p:sp>
      <p:cxnSp>
        <p:nvCxnSpPr>
          <p:cNvPr id="100" name="Straight Arrow Connector 99"/>
          <p:cNvCxnSpPr>
            <a:stCxn id="5" idx="3"/>
            <a:endCxn id="9" idx="1"/>
          </p:cNvCxnSpPr>
          <p:nvPr/>
        </p:nvCxnSpPr>
        <p:spPr>
          <a:xfrm>
            <a:off x="2609850" y="3276600"/>
            <a:ext cx="228600" cy="0"/>
          </a:xfrm>
          <a:prstGeom prst="straightConnector1">
            <a:avLst/>
          </a:prstGeom>
          <a:ln w="19050">
            <a:solidFill>
              <a:srgbClr val="3D8DFF"/>
            </a:solidFill>
            <a:prstDash val="solid"/>
            <a:tailEnd type="arrow" w="med" len="med"/>
          </a:ln>
        </p:spPr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672FE7D8-6FEB-486C-BCEB-084B44FE3252}"/>
              </a:ext>
            </a:extLst>
          </p:cNvPr>
          <p:cNvSpPr>
            <a:spLocks noGrp="1"/>
          </p:cNvSpPr>
          <p:nvPr/>
        </p:nvSpPr>
        <p:spPr>
          <a:xfrm>
            <a:off x="4991100" y="1790700"/>
            <a:ext cx="1924050" cy="2971800"/>
          </a:xfrm>
          <a:prstGeom prst="rect">
            <a:avLst/>
          </a:prstGeom>
          <a:solidFill>
            <a:srgbClr val="E9F7FD"/>
          </a:solidFill>
          <a:ln w="9525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6CC8F85-0F1F-45B5-B018-34DF19DDEDAE}"/>
              </a:ext>
            </a:extLst>
          </p:cNvPr>
          <p:cNvSpPr>
            <a:spLocks noGrp="1"/>
          </p:cNvSpPr>
          <p:nvPr/>
        </p:nvSpPr>
        <p:spPr>
          <a:xfrm>
            <a:off x="5162550" y="2009775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03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C3B4FCA-7C26-4F1C-B79E-6D75BE77C097}"/>
              </a:ext>
            </a:extLst>
          </p:cNvPr>
          <p:cNvSpPr>
            <a:spLocks noGrp="1"/>
          </p:cNvSpPr>
          <p:nvPr/>
        </p:nvSpPr>
        <p:spPr>
          <a:xfrm>
            <a:off x="5162550" y="2457450"/>
            <a:ext cx="15811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Run k6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3FB9ED0-D6BA-4283-9492-B7DEC2C2EF55}"/>
              </a:ext>
            </a:extLst>
          </p:cNvPr>
          <p:cNvSpPr>
            <a:spLocks noGrp="1"/>
          </p:cNvSpPr>
          <p:nvPr/>
        </p:nvSpPr>
        <p:spPr>
          <a:xfrm>
            <a:off x="5162550" y="3190875"/>
            <a:ext cx="158115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5D636B"/>
                </a:solidFill>
              </a:defRPr>
            </a:pPr>
            <a:r>
              <a:rPr sz="1275" b="0">
                <a:solidFill>
                  <a:srgbClr val="5D636B"/>
                </a:solidFill>
              </a:rPr>
              <a:t>Submit the standard workload for 30 seconds at target TPS.</a:t>
            </a:r>
          </a:p>
        </p:txBody>
      </p:sp>
      <p:cxnSp>
        <p:nvCxnSpPr>
          <p:cNvPr id="105" name="Straight Arrow Connector 104"/>
          <p:cNvCxnSpPr>
            <a:stCxn id="9" idx="3"/>
            <a:endCxn id="14" idx="1"/>
          </p:cNvCxnSpPr>
          <p:nvPr/>
        </p:nvCxnSpPr>
        <p:spPr>
          <a:xfrm>
            <a:off x="4762500" y="3276600"/>
            <a:ext cx="228600" cy="0"/>
          </a:xfrm>
          <a:prstGeom prst="straightConnector1">
            <a:avLst/>
          </a:prstGeom>
          <a:ln w="19050">
            <a:solidFill>
              <a:srgbClr val="3D8DFF"/>
            </a:solidFill>
            <a:prstDash val="solid"/>
            <a:tailEnd type="arrow" w="med" len="med"/>
          </a:ln>
        </p:spPr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9C59FE88-3562-419E-9E7E-30713686A7C8}"/>
              </a:ext>
            </a:extLst>
          </p:cNvPr>
          <p:cNvSpPr>
            <a:spLocks noGrp="1"/>
          </p:cNvSpPr>
          <p:nvPr/>
        </p:nvSpPr>
        <p:spPr>
          <a:xfrm>
            <a:off x="7143750" y="1790700"/>
            <a:ext cx="1924050" cy="297180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712AB35-3A89-4434-B6EE-01ECEFE5E2DB}"/>
              </a:ext>
            </a:extLst>
          </p:cNvPr>
          <p:cNvSpPr>
            <a:spLocks noGrp="1"/>
          </p:cNvSpPr>
          <p:nvPr/>
        </p:nvSpPr>
        <p:spPr>
          <a:xfrm>
            <a:off x="7315200" y="2009775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04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2B9177B-40DA-4128-8663-F3C22C47258C}"/>
              </a:ext>
            </a:extLst>
          </p:cNvPr>
          <p:cNvSpPr>
            <a:spLocks noGrp="1"/>
          </p:cNvSpPr>
          <p:nvPr/>
        </p:nvSpPr>
        <p:spPr>
          <a:xfrm>
            <a:off x="7315200" y="2457450"/>
            <a:ext cx="15811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Drain + verify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E35278-72F3-43FC-90DD-99337CDEA161}"/>
              </a:ext>
            </a:extLst>
          </p:cNvPr>
          <p:cNvSpPr>
            <a:spLocks noGrp="1"/>
          </p:cNvSpPr>
          <p:nvPr/>
        </p:nvSpPr>
        <p:spPr>
          <a:xfrm>
            <a:off x="7315200" y="3190875"/>
            <a:ext cx="158115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5D636B"/>
                </a:solidFill>
              </a:defRPr>
            </a:pPr>
            <a:r>
              <a:rPr sz="1275" b="0">
                <a:solidFill>
                  <a:srgbClr val="5D636B"/>
                </a:solidFill>
              </a:rPr>
              <a:t>Record unfinished work, lag, SQL checks, and Redis checks.</a:t>
            </a:r>
          </a:p>
        </p:txBody>
      </p:sp>
      <p:cxnSp>
        <p:nvCxnSpPr>
          <p:cNvPr id="110" name="Straight Arrow Connector 109"/>
          <p:cNvCxnSpPr>
            <a:stCxn id="14" idx="3"/>
            <a:endCxn id="19" idx="1"/>
          </p:cNvCxnSpPr>
          <p:nvPr/>
        </p:nvCxnSpPr>
        <p:spPr>
          <a:xfrm>
            <a:off x="6915150" y="3276600"/>
            <a:ext cx="228600" cy="0"/>
          </a:xfrm>
          <a:prstGeom prst="straightConnector1">
            <a:avLst/>
          </a:prstGeom>
          <a:ln w="19050">
            <a:solidFill>
              <a:srgbClr val="3D8DFF"/>
            </a:solidFill>
            <a:prstDash val="solid"/>
            <a:tailEnd type="arrow" w="med" len="med"/>
          </a:ln>
        </p:spPr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AE3EAE7-FBF3-410D-887A-72A0DE4B44F9}"/>
              </a:ext>
            </a:extLst>
          </p:cNvPr>
          <p:cNvSpPr>
            <a:spLocks noGrp="1"/>
          </p:cNvSpPr>
          <p:nvPr/>
        </p:nvSpPr>
        <p:spPr>
          <a:xfrm>
            <a:off x="9296400" y="1790700"/>
            <a:ext cx="1924050" cy="297180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BF39FD2-F783-4779-9F04-2D341B0F7B12}"/>
              </a:ext>
            </a:extLst>
          </p:cNvPr>
          <p:cNvSpPr>
            <a:spLocks noGrp="1"/>
          </p:cNvSpPr>
          <p:nvPr/>
        </p:nvSpPr>
        <p:spPr>
          <a:xfrm>
            <a:off x="9467850" y="2009775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05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AA3C98F-3B8F-4D24-8B72-66B4FE32454E}"/>
              </a:ext>
            </a:extLst>
          </p:cNvPr>
          <p:cNvSpPr>
            <a:spLocks noGrp="1"/>
          </p:cNvSpPr>
          <p:nvPr/>
        </p:nvSpPr>
        <p:spPr>
          <a:xfrm>
            <a:off x="9467850" y="2457450"/>
            <a:ext cx="15811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Confirm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D853509-67B3-49E4-8380-A3A3D284E1B9}"/>
              </a:ext>
            </a:extLst>
          </p:cNvPr>
          <p:cNvSpPr>
            <a:spLocks noGrp="1"/>
          </p:cNvSpPr>
          <p:nvPr/>
        </p:nvSpPr>
        <p:spPr>
          <a:xfrm>
            <a:off x="9467850" y="3190875"/>
            <a:ext cx="158115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5D636B"/>
                </a:solidFill>
              </a:defRPr>
            </a:pPr>
            <a:r>
              <a:rPr sz="1275" b="0">
                <a:solidFill>
                  <a:srgbClr val="5D636B"/>
                </a:solidFill>
              </a:rPr>
              <a:t>Repeat the highest passing rate twice.</a:t>
            </a:r>
          </a:p>
        </p:txBody>
      </p:sp>
      <p:cxnSp>
        <p:nvCxnSpPr>
          <p:cNvPr id="115" name="Straight Arrow Connector 114"/>
          <p:cNvCxnSpPr>
            <a:stCxn id="19" idx="3"/>
            <a:endCxn id="24" idx="1"/>
          </p:cNvCxnSpPr>
          <p:nvPr/>
        </p:nvCxnSpPr>
        <p:spPr>
          <a:xfrm>
            <a:off x="9067800" y="3276600"/>
            <a:ext cx="228600" cy="0"/>
          </a:xfrm>
          <a:prstGeom prst="straightConnector1">
            <a:avLst/>
          </a:prstGeom>
          <a:ln w="19050">
            <a:solidFill>
              <a:srgbClr val="3D8DFF"/>
            </a:solidFill>
            <a:prstDash val="solid"/>
            <a:tailEnd type="arrow" w="med" len="med"/>
          </a:ln>
        </p:spPr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8BCB27E2-0A37-46ED-B6A0-E0DEEF8BF077}"/>
              </a:ext>
            </a:extLst>
          </p:cNvPr>
          <p:cNvSpPr>
            <a:spLocks noGrp="1"/>
          </p:cNvSpPr>
          <p:nvPr/>
        </p:nvSpPr>
        <p:spPr>
          <a:xfrm>
            <a:off x="685800" y="5219700"/>
            <a:ext cx="10820400" cy="685800"/>
          </a:xfrm>
          <a:prstGeom prst="rect">
            <a:avLst/>
          </a:prstGeom>
          <a:solidFill>
            <a:srgbClr val="EDEDED"/>
          </a:solidFill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6ECE039-AB6E-495C-BE8D-1A7AA5D39E38}"/>
              </a:ext>
            </a:extLst>
          </p:cNvPr>
          <p:cNvSpPr>
            <a:spLocks noGrp="1"/>
          </p:cNvSpPr>
          <p:nvPr/>
        </p:nvSpPr>
        <p:spPr>
          <a:xfrm>
            <a:off x="914400" y="5448300"/>
            <a:ext cx="1676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C83E4D"/>
                </a:solidFill>
              </a:defRPr>
            </a:pPr>
            <a:r>
              <a:rPr sz="1200" b="1">
                <a:solidFill>
                  <a:srgbClr val="C83E4D"/>
                </a:solidFill>
              </a:rPr>
              <a:t>Critical control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DECDDB7-0622-424F-A46F-4699CA53F555}"/>
              </a:ext>
            </a:extLst>
          </p:cNvPr>
          <p:cNvSpPr>
            <a:spLocks noGrp="1"/>
          </p:cNvSpPr>
          <p:nvPr/>
        </p:nvSpPr>
        <p:spPr>
          <a:xfrm>
            <a:off x="2724150" y="5353050"/>
            <a:ext cx="784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No application process is reused between measured TPS rates.</a:t>
            </a:r>
          </a:p>
        </p:txBody>
      </p:sp>
    </p:spTree>
    <p:extLst>
      <p:ext uri="{BB962C8B-B14F-4D97-AF65-F5344CB8AC3E}">
        <p14:creationId xmlns:p14="http://schemas.microsoft.com/office/powerpoint/2010/main" val="15076116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F05A37BE-685D-4451-911B-D45B89390397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EXPERIMENTAL RESULTS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47E3399-CD18-41DA-AAF7-D25EDD1833AD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47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Sustainable TPS increased from 25 to 55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11FD3516-3356-479D-A838-D9630105408A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1082040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51B981-9606-49F1-B91B-8A46FFE06193}"/>
              </a:ext>
            </a:extLst>
          </p:cNvPr>
          <p:cNvSpPr>
            <a:spLocks noGrp="1"/>
          </p:cNvSpPr>
          <p:nvPr/>
        </p:nvSpPr>
        <p:spPr>
          <a:xfrm>
            <a:off x="10648950" y="6419850"/>
            <a:ext cx="857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0">
                <a:solidFill>
                  <a:srgbClr val="5D636B"/>
                </a:solidFill>
              </a:defRPr>
            </a:pPr>
            <a:r>
              <a:rPr sz="900" b="0">
                <a:solidFill>
                  <a:srgbClr val="5D636B"/>
                </a:solidFill>
              </a:rPr>
              <a:t>09 / 13</a:t>
            </a:r>
          </a:p>
        </p:txBody>
      </p:sp>
      <p:graphicFrame>
        <p:nvGraphicFramePr>
          <p:cNvPr id="25" name="Chart"/>
          <p:cNvGraphicFramePr/>
          <p:nvPr/>
        </p:nvGraphicFramePr>
        <p:xfrm>
          <a:off x="666750" y="1581150"/>
          <a:ext cx="752475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027F0E02-0DA9-4413-B6CF-6DE82BDBF0BB}"/>
              </a:ext>
            </a:extLst>
          </p:cNvPr>
          <p:cNvSpPr>
            <a:spLocks noGrp="1"/>
          </p:cNvSpPr>
          <p:nvPr/>
        </p:nvSpPr>
        <p:spPr>
          <a:xfrm>
            <a:off x="8591550" y="1676400"/>
            <a:ext cx="2914650" cy="1695450"/>
          </a:xfrm>
          <a:prstGeom prst="rect">
            <a:avLst/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F27C1B3-C36B-4997-9C22-3F13573D7138}"/>
              </a:ext>
            </a:extLst>
          </p:cNvPr>
          <p:cNvSpPr>
            <a:spLocks noGrp="1"/>
          </p:cNvSpPr>
          <p:nvPr/>
        </p:nvSpPr>
        <p:spPr>
          <a:xfrm>
            <a:off x="8820150" y="1943100"/>
            <a:ext cx="24574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4050" b="1">
                <a:solidFill>
                  <a:srgbClr val="6DCBF4"/>
                </a:solidFill>
              </a:defRPr>
            </a:pPr>
            <a:r>
              <a:rPr sz="4050" b="1">
                <a:solidFill>
                  <a:srgbClr val="6DCBF4"/>
                </a:solidFill>
              </a:rPr>
              <a:t>+120%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F11091-8622-4E89-8A8F-C83211ADB2E4}"/>
              </a:ext>
            </a:extLst>
          </p:cNvPr>
          <p:cNvSpPr>
            <a:spLocks noGrp="1"/>
          </p:cNvSpPr>
          <p:nvPr/>
        </p:nvSpPr>
        <p:spPr>
          <a:xfrm>
            <a:off x="8820150" y="2667000"/>
            <a:ext cx="24574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overall increase</a:t>
            </a:r>
          </a:p>
          <a:p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from C0 to C3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72117A-35BB-4AE2-AD6A-89A19CAAB948}"/>
              </a:ext>
            </a:extLst>
          </p:cNvPr>
          <p:cNvSpPr>
            <a:spLocks noGrp="1"/>
          </p:cNvSpPr>
          <p:nvPr/>
        </p:nvSpPr>
        <p:spPr>
          <a:xfrm>
            <a:off x="8591550" y="3695700"/>
            <a:ext cx="2914650" cy="49530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8BCFDB-48A2-4BC6-9522-BD5E07935673}"/>
              </a:ext>
            </a:extLst>
          </p:cNvPr>
          <p:cNvSpPr>
            <a:spLocks noGrp="1"/>
          </p:cNvSpPr>
          <p:nvPr/>
        </p:nvSpPr>
        <p:spPr>
          <a:xfrm>
            <a:off x="8763000" y="3829050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5D636B"/>
                </a:solidFill>
              </a:defRPr>
            </a:pPr>
            <a:r>
              <a:rPr sz="1125" b="1">
                <a:solidFill>
                  <a:srgbClr val="5D636B"/>
                </a:solidFill>
              </a:rPr>
              <a:t>C1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D723A7F-5CCC-4435-8DB2-8A09B60A19A0}"/>
              </a:ext>
            </a:extLst>
          </p:cNvPr>
          <p:cNvSpPr>
            <a:spLocks noGrp="1"/>
          </p:cNvSpPr>
          <p:nvPr/>
        </p:nvSpPr>
        <p:spPr>
          <a:xfrm>
            <a:off x="9620250" y="3781425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+19.86%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7A9B9B8-1F68-4F32-99F1-978268CCB1F7}"/>
              </a:ext>
            </a:extLst>
          </p:cNvPr>
          <p:cNvSpPr>
            <a:spLocks noGrp="1"/>
          </p:cNvSpPr>
          <p:nvPr/>
        </p:nvSpPr>
        <p:spPr>
          <a:xfrm>
            <a:off x="8591550" y="4343400"/>
            <a:ext cx="2914650" cy="49530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9FB641-9373-4476-AEFB-1A1B5D656105}"/>
              </a:ext>
            </a:extLst>
          </p:cNvPr>
          <p:cNvSpPr>
            <a:spLocks noGrp="1"/>
          </p:cNvSpPr>
          <p:nvPr/>
        </p:nvSpPr>
        <p:spPr>
          <a:xfrm>
            <a:off x="8763000" y="4476750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5D636B"/>
                </a:solidFill>
              </a:defRPr>
            </a:pPr>
            <a:r>
              <a:rPr sz="1125" b="1">
                <a:solidFill>
                  <a:srgbClr val="5D636B"/>
                </a:solidFill>
              </a:rPr>
              <a:t>C2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FEF256-879F-4CB3-AF24-C9329165730C}"/>
              </a:ext>
            </a:extLst>
          </p:cNvPr>
          <p:cNvSpPr>
            <a:spLocks noGrp="1"/>
          </p:cNvSpPr>
          <p:nvPr/>
        </p:nvSpPr>
        <p:spPr>
          <a:xfrm>
            <a:off x="9620250" y="4429125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+16.67%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38CD561-A364-4FEF-BCAE-74A6795725D6}"/>
              </a:ext>
            </a:extLst>
          </p:cNvPr>
          <p:cNvSpPr>
            <a:spLocks noGrp="1"/>
          </p:cNvSpPr>
          <p:nvPr/>
        </p:nvSpPr>
        <p:spPr>
          <a:xfrm>
            <a:off x="8591550" y="4991100"/>
            <a:ext cx="2914650" cy="495300"/>
          </a:xfrm>
          <a:prstGeom prst="rect">
            <a:avLst/>
          </a:prstGeom>
          <a:solidFill>
            <a:srgbClr val="E9F7FD"/>
          </a:solidFill>
          <a:ln w="9525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75D589A-D0D6-4C5F-AA20-A8847E86939E}"/>
              </a:ext>
            </a:extLst>
          </p:cNvPr>
          <p:cNvSpPr>
            <a:spLocks noGrp="1"/>
          </p:cNvSpPr>
          <p:nvPr/>
        </p:nvSpPr>
        <p:spPr>
          <a:xfrm>
            <a:off x="8763000" y="5124450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5D636B"/>
                </a:solidFill>
              </a:defRPr>
            </a:pPr>
            <a:r>
              <a:rPr sz="1125" b="1">
                <a:solidFill>
                  <a:srgbClr val="5D636B"/>
                </a:solidFill>
              </a:rPr>
              <a:t>C3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59FEA00-DF9C-4D99-8101-EAB65231D75D}"/>
              </a:ext>
            </a:extLst>
          </p:cNvPr>
          <p:cNvSpPr>
            <a:spLocks noGrp="1"/>
          </p:cNvSpPr>
          <p:nvPr/>
        </p:nvSpPr>
        <p:spPr>
          <a:xfrm>
            <a:off x="9620250" y="5076825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725" b="1">
                <a:solidFill>
                  <a:srgbClr val="3D8DFF"/>
                </a:solidFill>
              </a:defRPr>
            </a:pPr>
            <a:r>
              <a:rPr sz="1725" b="1">
                <a:solidFill>
                  <a:srgbClr val="3D8DFF"/>
                </a:solidFill>
              </a:rPr>
              <a:t>+56.94%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7D7BB19-7BD5-422C-97B8-FF61CDA4DAE1}"/>
              </a:ext>
            </a:extLst>
          </p:cNvPr>
          <p:cNvSpPr>
            <a:spLocks noGrp="1"/>
          </p:cNvSpPr>
          <p:nvPr/>
        </p:nvSpPr>
        <p:spPr>
          <a:xfrm>
            <a:off x="685800" y="5924550"/>
            <a:ext cx="7620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5D636B"/>
                </a:solidFill>
              </a:defRPr>
            </a:pPr>
            <a:r>
              <a:rPr sz="975" b="0">
                <a:solidFill>
                  <a:srgbClr val="5D636B"/>
                </a:solidFill>
              </a:rPr>
              <a:t>Highest passing target TPS; confirmation rows use median completed TPS.</a:t>
            </a:r>
          </a:p>
        </p:txBody>
      </p:sp>
    </p:spTree>
    <p:extLst>
      <p:ext uri="{BB962C8B-B14F-4D97-AF65-F5344CB8AC3E}">
        <p14:creationId xmlns:p14="http://schemas.microsoft.com/office/powerpoint/2010/main" val="5482286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46">
            <a:extLst>
              <a:ext uri="{FF2B5EF4-FFF2-40B4-BE49-F238E27FC236}">
                <a16:creationId xmlns:a16="http://schemas.microsoft.com/office/drawing/2014/main" id="{E129562B-1BF0-4D26-9AB4-E59DDA0C74B7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BOUNDARY EVIDENCE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8011822-82AB-4FC6-AC5D-C02E28562AE5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47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The next tested rate failed for every configuration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D3E2F1F3-9BED-41C5-BF88-50CFE3DE3324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1082040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4ADF7C7-4DA3-41A8-BC60-3EE60C7D52CB}"/>
              </a:ext>
            </a:extLst>
          </p:cNvPr>
          <p:cNvSpPr>
            <a:spLocks noGrp="1"/>
          </p:cNvSpPr>
          <p:nvPr/>
        </p:nvSpPr>
        <p:spPr>
          <a:xfrm>
            <a:off x="10648950" y="6419850"/>
            <a:ext cx="857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0">
                <a:solidFill>
                  <a:srgbClr val="5D636B"/>
                </a:solidFill>
              </a:defRPr>
            </a:pPr>
            <a:r>
              <a:rPr sz="900" b="0">
                <a:solidFill>
                  <a:srgbClr val="5D636B"/>
                </a:solidFill>
              </a:rPr>
              <a:t>10 / 13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CCD7CA-F7C1-45C0-9DD9-B6B05B18E1CF}"/>
              </a:ext>
            </a:extLst>
          </p:cNvPr>
          <p:cNvSpPr>
            <a:spLocks noGrp="1"/>
          </p:cNvSpPr>
          <p:nvPr/>
        </p:nvSpPr>
        <p:spPr>
          <a:xfrm>
            <a:off x="685800" y="1485900"/>
            <a:ext cx="95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5D636B"/>
                </a:solidFill>
              </a:defRPr>
            </a:pPr>
            <a:r>
              <a:rPr sz="975" b="1">
                <a:solidFill>
                  <a:srgbClr val="5D636B"/>
                </a:solidFill>
              </a:rPr>
              <a:t>CONFIG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B777034-DC55-4496-B1EE-D8533E2039FB}"/>
              </a:ext>
            </a:extLst>
          </p:cNvPr>
          <p:cNvSpPr>
            <a:spLocks noGrp="1"/>
          </p:cNvSpPr>
          <p:nvPr/>
        </p:nvSpPr>
        <p:spPr>
          <a:xfrm>
            <a:off x="1885950" y="1485900"/>
            <a:ext cx="1676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5D636B"/>
                </a:solidFill>
              </a:defRPr>
            </a:pPr>
            <a:r>
              <a:rPr sz="975" b="1">
                <a:solidFill>
                  <a:srgbClr val="5D636B"/>
                </a:solidFill>
              </a:rPr>
              <a:t>HIGHEST PASS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2262D97-AAEF-429A-AB24-D36DDB6122E2}"/>
              </a:ext>
            </a:extLst>
          </p:cNvPr>
          <p:cNvSpPr>
            <a:spLocks noGrp="1"/>
          </p:cNvSpPr>
          <p:nvPr/>
        </p:nvSpPr>
        <p:spPr>
          <a:xfrm>
            <a:off x="4324350" y="14859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5D636B"/>
                </a:solidFill>
              </a:defRPr>
            </a:pPr>
            <a:r>
              <a:rPr sz="975" b="1">
                <a:solidFill>
                  <a:srgbClr val="5D636B"/>
                </a:solidFill>
              </a:rPr>
              <a:t>NEAREST FAILURE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81C7E5-0CDB-4468-8B74-74AA26ADBB27}"/>
              </a:ext>
            </a:extLst>
          </p:cNvPr>
          <p:cNvSpPr>
            <a:spLocks noGrp="1"/>
          </p:cNvSpPr>
          <p:nvPr/>
        </p:nvSpPr>
        <p:spPr>
          <a:xfrm>
            <a:off x="6819900" y="1485900"/>
            <a:ext cx="2381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5D636B"/>
                </a:solidFill>
              </a:defRPr>
            </a:pPr>
            <a:r>
              <a:rPr sz="975" b="1">
                <a:solidFill>
                  <a:srgbClr val="5D636B"/>
                </a:solidFill>
              </a:rPr>
              <a:t>WHY IT FAILED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829ED0D-92AE-42AB-9996-E906C2B52CCE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10820400" cy="72390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25AAC0-3849-45C0-AF1B-6F989CE62AB6}"/>
              </a:ext>
            </a:extLst>
          </p:cNvPr>
          <p:cNvSpPr>
            <a:spLocks noGrp="1"/>
          </p:cNvSpPr>
          <p:nvPr/>
        </p:nvSpPr>
        <p:spPr>
          <a:xfrm>
            <a:off x="895350" y="2009775"/>
            <a:ext cx="647700" cy="323850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DF3C36C-3E20-490E-9D2A-D5DAAAA09A5A}"/>
              </a:ext>
            </a:extLst>
          </p:cNvPr>
          <p:cNvSpPr>
            <a:spLocks noGrp="1"/>
          </p:cNvSpPr>
          <p:nvPr/>
        </p:nvSpPr>
        <p:spPr>
          <a:xfrm>
            <a:off x="971550" y="2066925"/>
            <a:ext cx="4953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C0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9EA2469-1E92-4E09-950A-EFD31C857F7E}"/>
              </a:ext>
            </a:extLst>
          </p:cNvPr>
          <p:cNvSpPr>
            <a:spLocks noGrp="1"/>
          </p:cNvSpPr>
          <p:nvPr/>
        </p:nvSpPr>
        <p:spPr>
          <a:xfrm>
            <a:off x="1885950" y="1990725"/>
            <a:ext cx="1809750" cy="361950"/>
          </a:xfrm>
          <a:prstGeom prst="roundRect">
            <a:avLst>
              <a:gd name="adj" fmla="val 50000"/>
            </a:avLst>
          </a:prstGeom>
          <a:solidFill>
            <a:srgbClr val="E7F5ED"/>
          </a:solidFill>
          <a:ln w="9525">
            <a:solidFill>
              <a:srgbClr val="248A5A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41C462-C4C4-4B64-A323-4086462DC6FF}"/>
              </a:ext>
            </a:extLst>
          </p:cNvPr>
          <p:cNvSpPr>
            <a:spLocks noGrp="1"/>
          </p:cNvSpPr>
          <p:nvPr/>
        </p:nvSpPr>
        <p:spPr>
          <a:xfrm>
            <a:off x="1962150" y="2047875"/>
            <a:ext cx="16573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1">
                <a:solidFill>
                  <a:srgbClr val="248A5A"/>
                </a:solidFill>
              </a:defRPr>
            </a:pPr>
            <a:r>
              <a:rPr sz="1050" b="1">
                <a:solidFill>
                  <a:srgbClr val="248A5A"/>
                </a:solidFill>
              </a:rPr>
              <a:t>PASS  25 TPS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9FC221-DCE1-43F3-8CC5-B053EF2065C1}"/>
              </a:ext>
            </a:extLst>
          </p:cNvPr>
          <p:cNvSpPr>
            <a:spLocks noGrp="1"/>
          </p:cNvSpPr>
          <p:nvPr/>
        </p:nvSpPr>
        <p:spPr>
          <a:xfrm>
            <a:off x="3886200" y="1990725"/>
            <a:ext cx="323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650" b="1">
                <a:solidFill>
                  <a:srgbClr val="B8BCC4"/>
                </a:solidFill>
              </a:defRPr>
            </a:pPr>
            <a:r>
              <a:rPr sz="1650" b="1">
                <a:solidFill>
                  <a:srgbClr val="B8BCC4"/>
                </a:solidFill>
              </a:rPr>
              <a:t>→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DA70EDD-58EC-4225-B0C7-D2DDDEDB692B}"/>
              </a:ext>
            </a:extLst>
          </p:cNvPr>
          <p:cNvSpPr>
            <a:spLocks noGrp="1"/>
          </p:cNvSpPr>
          <p:nvPr/>
        </p:nvSpPr>
        <p:spPr>
          <a:xfrm>
            <a:off x="4324350" y="1990725"/>
            <a:ext cx="1809750" cy="361950"/>
          </a:xfrm>
          <a:prstGeom prst="roundRect">
            <a:avLst>
              <a:gd name="adj" fmla="val 50000"/>
            </a:avLst>
          </a:prstGeom>
          <a:solidFill>
            <a:srgbClr val="FCEAEC"/>
          </a:solidFill>
          <a:ln w="9525">
            <a:solidFill>
              <a:srgbClr val="C83E4D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4D38DA9-1B3C-43F7-BC79-7A48C9E80DCA}"/>
              </a:ext>
            </a:extLst>
          </p:cNvPr>
          <p:cNvSpPr>
            <a:spLocks noGrp="1"/>
          </p:cNvSpPr>
          <p:nvPr/>
        </p:nvSpPr>
        <p:spPr>
          <a:xfrm>
            <a:off x="4400550" y="2047875"/>
            <a:ext cx="16573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1">
                <a:solidFill>
                  <a:srgbClr val="C83E4D"/>
                </a:solidFill>
              </a:defRPr>
            </a:pPr>
            <a:r>
              <a:rPr sz="1050" b="1">
                <a:solidFill>
                  <a:srgbClr val="C83E4D"/>
                </a:solidFill>
              </a:rPr>
              <a:t>FAIL  30 TPS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F30F628-8EF6-4716-AAC4-490C6AE00785}"/>
              </a:ext>
            </a:extLst>
          </p:cNvPr>
          <p:cNvSpPr>
            <a:spLocks noGrp="1"/>
          </p:cNvSpPr>
          <p:nvPr/>
        </p:nvSpPr>
        <p:spPr>
          <a:xfrm>
            <a:off x="6819900" y="1933575"/>
            <a:ext cx="43243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Cash and stock conservation: 3/5 checks passed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0778FC2-B667-43BF-B927-ED131E1FF27B}"/>
              </a:ext>
            </a:extLst>
          </p:cNvPr>
          <p:cNvSpPr>
            <a:spLocks noGrp="1"/>
          </p:cNvSpPr>
          <p:nvPr/>
        </p:nvSpPr>
        <p:spPr>
          <a:xfrm>
            <a:off x="685800" y="2743200"/>
            <a:ext cx="10820400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1E41002-7E25-4255-8414-36D08280DEFB}"/>
              </a:ext>
            </a:extLst>
          </p:cNvPr>
          <p:cNvSpPr>
            <a:spLocks noGrp="1"/>
          </p:cNvSpPr>
          <p:nvPr/>
        </p:nvSpPr>
        <p:spPr>
          <a:xfrm>
            <a:off x="895350" y="2943225"/>
            <a:ext cx="647700" cy="323850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AA6C404-D620-4110-A2A2-A64A72BFFD64}"/>
              </a:ext>
            </a:extLst>
          </p:cNvPr>
          <p:cNvSpPr>
            <a:spLocks noGrp="1"/>
          </p:cNvSpPr>
          <p:nvPr/>
        </p:nvSpPr>
        <p:spPr>
          <a:xfrm>
            <a:off x="971550" y="3000375"/>
            <a:ext cx="4953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C1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40346BA-926F-49EA-8C8D-9D4FE4A8F085}"/>
              </a:ext>
            </a:extLst>
          </p:cNvPr>
          <p:cNvSpPr>
            <a:spLocks noGrp="1"/>
          </p:cNvSpPr>
          <p:nvPr/>
        </p:nvSpPr>
        <p:spPr>
          <a:xfrm>
            <a:off x="1885950" y="2924175"/>
            <a:ext cx="1809750" cy="361950"/>
          </a:xfrm>
          <a:prstGeom prst="roundRect">
            <a:avLst>
              <a:gd name="adj" fmla="val 50000"/>
            </a:avLst>
          </a:prstGeom>
          <a:solidFill>
            <a:srgbClr val="E7F5ED"/>
          </a:solidFill>
          <a:ln w="9525">
            <a:solidFill>
              <a:srgbClr val="248A5A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CDD74A2-EBEC-40B2-B24B-F9515F9CC8DE}"/>
              </a:ext>
            </a:extLst>
          </p:cNvPr>
          <p:cNvSpPr>
            <a:spLocks noGrp="1"/>
          </p:cNvSpPr>
          <p:nvPr/>
        </p:nvSpPr>
        <p:spPr>
          <a:xfrm>
            <a:off x="1962150" y="2981325"/>
            <a:ext cx="16573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1">
                <a:solidFill>
                  <a:srgbClr val="248A5A"/>
                </a:solidFill>
              </a:defRPr>
            </a:pPr>
            <a:r>
              <a:rPr sz="1050" b="1">
                <a:solidFill>
                  <a:srgbClr val="248A5A"/>
                </a:solidFill>
              </a:rPr>
              <a:t>PASS  30 TPS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8486DBC-9945-44F9-A300-28A7AD50AF94}"/>
              </a:ext>
            </a:extLst>
          </p:cNvPr>
          <p:cNvSpPr>
            <a:spLocks noGrp="1"/>
          </p:cNvSpPr>
          <p:nvPr/>
        </p:nvSpPr>
        <p:spPr>
          <a:xfrm>
            <a:off x="3886200" y="2924175"/>
            <a:ext cx="323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650" b="1">
                <a:solidFill>
                  <a:srgbClr val="B8BCC4"/>
                </a:solidFill>
              </a:defRPr>
            </a:pPr>
            <a:r>
              <a:rPr sz="1650" b="1">
                <a:solidFill>
                  <a:srgbClr val="B8BCC4"/>
                </a:solidFill>
              </a:rPr>
              <a:t>→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5F5E1B3-20A5-41E6-971E-3E3795EB7CCA}"/>
              </a:ext>
            </a:extLst>
          </p:cNvPr>
          <p:cNvSpPr>
            <a:spLocks noGrp="1"/>
          </p:cNvSpPr>
          <p:nvPr/>
        </p:nvSpPr>
        <p:spPr>
          <a:xfrm>
            <a:off x="4324350" y="2924175"/>
            <a:ext cx="1809750" cy="361950"/>
          </a:xfrm>
          <a:prstGeom prst="roundRect">
            <a:avLst>
              <a:gd name="adj" fmla="val 50000"/>
            </a:avLst>
          </a:prstGeom>
          <a:solidFill>
            <a:srgbClr val="FCEAEC"/>
          </a:solidFill>
          <a:ln w="9525">
            <a:solidFill>
              <a:srgbClr val="C83E4D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5232E83-6F05-4B87-8EC7-96C9EF9119DD}"/>
              </a:ext>
            </a:extLst>
          </p:cNvPr>
          <p:cNvSpPr>
            <a:spLocks noGrp="1"/>
          </p:cNvSpPr>
          <p:nvPr/>
        </p:nvSpPr>
        <p:spPr>
          <a:xfrm>
            <a:off x="4400550" y="2981325"/>
            <a:ext cx="16573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1">
                <a:solidFill>
                  <a:srgbClr val="C83E4D"/>
                </a:solidFill>
              </a:defRPr>
            </a:pPr>
            <a:r>
              <a:rPr sz="1050" b="1">
                <a:solidFill>
                  <a:srgbClr val="C83E4D"/>
                </a:solidFill>
              </a:rPr>
              <a:t>FAIL  35 TPS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89247D9-466E-4E37-B1E9-D1612509B35E}"/>
              </a:ext>
            </a:extLst>
          </p:cNvPr>
          <p:cNvSpPr>
            <a:spLocks noGrp="1"/>
          </p:cNvSpPr>
          <p:nvPr/>
        </p:nvSpPr>
        <p:spPr>
          <a:xfrm>
            <a:off x="6819900" y="2867025"/>
            <a:ext cx="43243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52.24% completed; 308 unfinished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A737C98-2FF9-4C01-91A8-8F4AD6D10C60}"/>
              </a:ext>
            </a:extLst>
          </p:cNvPr>
          <p:cNvSpPr>
            <a:spLocks noGrp="1"/>
          </p:cNvSpPr>
          <p:nvPr/>
        </p:nvSpPr>
        <p:spPr>
          <a:xfrm>
            <a:off x="685800" y="3676650"/>
            <a:ext cx="10820400" cy="72390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9EA995DC-D10A-48A8-AFD9-5EAE793B7851}"/>
              </a:ext>
            </a:extLst>
          </p:cNvPr>
          <p:cNvSpPr>
            <a:spLocks noGrp="1"/>
          </p:cNvSpPr>
          <p:nvPr/>
        </p:nvSpPr>
        <p:spPr>
          <a:xfrm>
            <a:off x="895350" y="3876675"/>
            <a:ext cx="647700" cy="323850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6667571-97E9-4F0C-9520-0B89D2AA72F1}"/>
              </a:ext>
            </a:extLst>
          </p:cNvPr>
          <p:cNvSpPr>
            <a:spLocks noGrp="1"/>
          </p:cNvSpPr>
          <p:nvPr/>
        </p:nvSpPr>
        <p:spPr>
          <a:xfrm>
            <a:off x="971550" y="3933825"/>
            <a:ext cx="4953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C2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7E70E37-8231-4EA2-B798-8ADF784DFF4F}"/>
              </a:ext>
            </a:extLst>
          </p:cNvPr>
          <p:cNvSpPr>
            <a:spLocks noGrp="1"/>
          </p:cNvSpPr>
          <p:nvPr/>
        </p:nvSpPr>
        <p:spPr>
          <a:xfrm>
            <a:off x="1885950" y="3857625"/>
            <a:ext cx="1809750" cy="361950"/>
          </a:xfrm>
          <a:prstGeom prst="roundRect">
            <a:avLst>
              <a:gd name="adj" fmla="val 50000"/>
            </a:avLst>
          </a:prstGeom>
          <a:solidFill>
            <a:srgbClr val="E7F5ED"/>
          </a:solidFill>
          <a:ln w="9525">
            <a:solidFill>
              <a:srgbClr val="248A5A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3F77CE2-3357-4F9A-B88D-7BA6DAA1446C}"/>
              </a:ext>
            </a:extLst>
          </p:cNvPr>
          <p:cNvSpPr>
            <a:spLocks noGrp="1"/>
          </p:cNvSpPr>
          <p:nvPr/>
        </p:nvSpPr>
        <p:spPr>
          <a:xfrm>
            <a:off x="1962150" y="3914775"/>
            <a:ext cx="16573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1">
                <a:solidFill>
                  <a:srgbClr val="248A5A"/>
                </a:solidFill>
              </a:defRPr>
            </a:pPr>
            <a:r>
              <a:rPr sz="1050" b="1">
                <a:solidFill>
                  <a:srgbClr val="248A5A"/>
                </a:solidFill>
              </a:rPr>
              <a:t>PASS  35 TPS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DEFC0B4-8844-41C2-AB7D-04A5949BB1A4}"/>
              </a:ext>
            </a:extLst>
          </p:cNvPr>
          <p:cNvSpPr>
            <a:spLocks noGrp="1"/>
          </p:cNvSpPr>
          <p:nvPr/>
        </p:nvSpPr>
        <p:spPr>
          <a:xfrm>
            <a:off x="3886200" y="3857625"/>
            <a:ext cx="323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650" b="1">
                <a:solidFill>
                  <a:srgbClr val="B8BCC4"/>
                </a:solidFill>
              </a:defRPr>
            </a:pPr>
            <a:r>
              <a:rPr sz="1650" b="1">
                <a:solidFill>
                  <a:srgbClr val="B8BCC4"/>
                </a:solidFill>
              </a:rPr>
              <a:t>→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27C1B145-3C44-4225-9D5D-3FAC4130329D}"/>
              </a:ext>
            </a:extLst>
          </p:cNvPr>
          <p:cNvSpPr>
            <a:spLocks noGrp="1"/>
          </p:cNvSpPr>
          <p:nvPr/>
        </p:nvSpPr>
        <p:spPr>
          <a:xfrm>
            <a:off x="4324350" y="3857625"/>
            <a:ext cx="1809750" cy="361950"/>
          </a:xfrm>
          <a:prstGeom prst="roundRect">
            <a:avLst>
              <a:gd name="adj" fmla="val 50000"/>
            </a:avLst>
          </a:prstGeom>
          <a:solidFill>
            <a:srgbClr val="FCEAEC"/>
          </a:solidFill>
          <a:ln w="9525">
            <a:solidFill>
              <a:srgbClr val="C83E4D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3C98458-1A54-42FB-92DC-ED8BBFC3D0D4}"/>
              </a:ext>
            </a:extLst>
          </p:cNvPr>
          <p:cNvSpPr>
            <a:spLocks noGrp="1"/>
          </p:cNvSpPr>
          <p:nvPr/>
        </p:nvSpPr>
        <p:spPr>
          <a:xfrm>
            <a:off x="4400550" y="3914775"/>
            <a:ext cx="16573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1">
                <a:solidFill>
                  <a:srgbClr val="C83E4D"/>
                </a:solidFill>
              </a:defRPr>
            </a:pPr>
            <a:r>
              <a:rPr sz="1050" b="1">
                <a:solidFill>
                  <a:srgbClr val="C83E4D"/>
                </a:solidFill>
              </a:rPr>
              <a:t>FAIL  40 TPS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8D0ECBA-C175-4909-83B2-E04B3CEEE9D8}"/>
              </a:ext>
            </a:extLst>
          </p:cNvPr>
          <p:cNvSpPr>
            <a:spLocks noGrp="1"/>
          </p:cNvSpPr>
          <p:nvPr/>
        </p:nvSpPr>
        <p:spPr>
          <a:xfrm>
            <a:off x="6819900" y="3800475"/>
            <a:ext cx="43243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73.67% completed in repeatability run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8640038-C19C-490F-B39E-C7956B22853A}"/>
              </a:ext>
            </a:extLst>
          </p:cNvPr>
          <p:cNvSpPr>
            <a:spLocks noGrp="1"/>
          </p:cNvSpPr>
          <p:nvPr/>
        </p:nvSpPr>
        <p:spPr>
          <a:xfrm>
            <a:off x="685800" y="4610100"/>
            <a:ext cx="10820400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0FC93799-1068-42A5-B7B6-57A657A85657}"/>
              </a:ext>
            </a:extLst>
          </p:cNvPr>
          <p:cNvSpPr>
            <a:spLocks noGrp="1"/>
          </p:cNvSpPr>
          <p:nvPr/>
        </p:nvSpPr>
        <p:spPr>
          <a:xfrm>
            <a:off x="895350" y="4810125"/>
            <a:ext cx="647700" cy="323850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6E0ECA5-848F-4ADC-8F7E-10130A34E224}"/>
              </a:ext>
            </a:extLst>
          </p:cNvPr>
          <p:cNvSpPr>
            <a:spLocks noGrp="1"/>
          </p:cNvSpPr>
          <p:nvPr/>
        </p:nvSpPr>
        <p:spPr>
          <a:xfrm>
            <a:off x="971550" y="4867275"/>
            <a:ext cx="4953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C3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86915B54-2E28-4BCD-A9FD-AB5AAFF5F59C}"/>
              </a:ext>
            </a:extLst>
          </p:cNvPr>
          <p:cNvSpPr>
            <a:spLocks noGrp="1"/>
          </p:cNvSpPr>
          <p:nvPr/>
        </p:nvSpPr>
        <p:spPr>
          <a:xfrm>
            <a:off x="1885950" y="4791075"/>
            <a:ext cx="1809750" cy="361950"/>
          </a:xfrm>
          <a:prstGeom prst="roundRect">
            <a:avLst>
              <a:gd name="adj" fmla="val 50000"/>
            </a:avLst>
          </a:prstGeom>
          <a:solidFill>
            <a:srgbClr val="E7F5ED"/>
          </a:solidFill>
          <a:ln w="9525">
            <a:solidFill>
              <a:srgbClr val="248A5A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6B9FCB6-3EA0-4DA4-8B2D-B18163E80A3A}"/>
              </a:ext>
            </a:extLst>
          </p:cNvPr>
          <p:cNvSpPr>
            <a:spLocks noGrp="1"/>
          </p:cNvSpPr>
          <p:nvPr/>
        </p:nvSpPr>
        <p:spPr>
          <a:xfrm>
            <a:off x="1962150" y="4848225"/>
            <a:ext cx="16573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1">
                <a:solidFill>
                  <a:srgbClr val="248A5A"/>
                </a:solidFill>
              </a:defRPr>
            </a:pPr>
            <a:r>
              <a:rPr sz="1050" b="1">
                <a:solidFill>
                  <a:srgbClr val="248A5A"/>
                </a:solidFill>
              </a:rPr>
              <a:t>PASS  55 TPS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566BAD2-7250-4CCA-8805-0798C9F108C8}"/>
              </a:ext>
            </a:extLst>
          </p:cNvPr>
          <p:cNvSpPr>
            <a:spLocks noGrp="1"/>
          </p:cNvSpPr>
          <p:nvPr/>
        </p:nvSpPr>
        <p:spPr>
          <a:xfrm>
            <a:off x="3886200" y="4791075"/>
            <a:ext cx="323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650" b="1">
                <a:solidFill>
                  <a:srgbClr val="B8BCC4"/>
                </a:solidFill>
              </a:defRPr>
            </a:pPr>
            <a:r>
              <a:rPr sz="1650" b="1">
                <a:solidFill>
                  <a:srgbClr val="B8BCC4"/>
                </a:solidFill>
              </a:rPr>
              <a:t>→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63CCE592-D6D0-4A5C-BCBD-6EA0F98C7573}"/>
              </a:ext>
            </a:extLst>
          </p:cNvPr>
          <p:cNvSpPr>
            <a:spLocks noGrp="1"/>
          </p:cNvSpPr>
          <p:nvPr/>
        </p:nvSpPr>
        <p:spPr>
          <a:xfrm>
            <a:off x="4324350" y="4791075"/>
            <a:ext cx="1809750" cy="361950"/>
          </a:xfrm>
          <a:prstGeom prst="roundRect">
            <a:avLst>
              <a:gd name="adj" fmla="val 50000"/>
            </a:avLst>
          </a:prstGeom>
          <a:solidFill>
            <a:srgbClr val="FCEAEC"/>
          </a:solidFill>
          <a:ln w="9525">
            <a:solidFill>
              <a:srgbClr val="C83E4D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7326D2A-B5A5-4402-9904-D624B73F113C}"/>
              </a:ext>
            </a:extLst>
          </p:cNvPr>
          <p:cNvSpPr>
            <a:spLocks noGrp="1"/>
          </p:cNvSpPr>
          <p:nvPr/>
        </p:nvSpPr>
        <p:spPr>
          <a:xfrm>
            <a:off x="4400550" y="4848225"/>
            <a:ext cx="16573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1">
                <a:solidFill>
                  <a:srgbClr val="C83E4D"/>
                </a:solidFill>
              </a:defRPr>
            </a:pPr>
            <a:r>
              <a:rPr sz="1050" b="1">
                <a:solidFill>
                  <a:srgbClr val="C83E4D"/>
                </a:solidFill>
              </a:rPr>
              <a:t>FAIL  60 TPS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5AF91A9-15C4-423A-8A3A-BF790A30724C}"/>
              </a:ext>
            </a:extLst>
          </p:cNvPr>
          <p:cNvSpPr>
            <a:spLocks noGrp="1"/>
          </p:cNvSpPr>
          <p:nvPr/>
        </p:nvSpPr>
        <p:spPr>
          <a:xfrm>
            <a:off x="6819900" y="4733925"/>
            <a:ext cx="43243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96.78% completed—below the 98% rule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370679E-9DB0-4CD9-90EA-9F995C9619C8}"/>
              </a:ext>
            </a:extLst>
          </p:cNvPr>
          <p:cNvSpPr>
            <a:spLocks noGrp="1"/>
          </p:cNvSpPr>
          <p:nvPr/>
        </p:nvSpPr>
        <p:spPr>
          <a:xfrm>
            <a:off x="685800" y="5753100"/>
            <a:ext cx="10820400" cy="476250"/>
          </a:xfrm>
          <a:prstGeom prst="rect">
            <a:avLst/>
          </a:prstGeom>
          <a:solidFill>
            <a:srgbClr val="E9F7FD"/>
          </a:solidFill>
          <a:ln w="9525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F6575989-D877-4503-8B51-54CA0C8611BC}"/>
              </a:ext>
            </a:extLst>
          </p:cNvPr>
          <p:cNvSpPr>
            <a:spLocks noGrp="1"/>
          </p:cNvSpPr>
          <p:nvPr/>
        </p:nvSpPr>
        <p:spPr>
          <a:xfrm>
            <a:off x="895350" y="5867400"/>
            <a:ext cx="10401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425" b="1">
                <a:solidFill>
                  <a:srgbClr val="3D8DFF"/>
                </a:solidFill>
              </a:defRPr>
            </a:pPr>
            <a:r>
              <a:rPr sz="1425" b="1">
                <a:solidFill>
                  <a:srgbClr val="3D8DFF"/>
                </a:solidFill>
              </a:rPr>
              <a:t>The score is the confirmed passing boundary—not the fastest rate attempted.</a:t>
            </a:r>
          </a:p>
        </p:txBody>
      </p:sp>
    </p:spTree>
    <p:extLst>
      <p:ext uri="{BB962C8B-B14F-4D97-AF65-F5344CB8AC3E}">
        <p14:creationId xmlns:p14="http://schemas.microsoft.com/office/powerpoint/2010/main" val="1894494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10BCB61B-F0D6-44A2-8CE5-2ABB471184C7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DISCUSSION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23E25F9-6ABB-421E-A560-1B5E73AF5A4C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47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Each improvement exposed the next constraint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E54B696B-2A7F-446A-AAD0-79B95344F704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1082040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7515AD7-D7F5-4DE8-9543-EC605E49CB08}"/>
              </a:ext>
            </a:extLst>
          </p:cNvPr>
          <p:cNvSpPr>
            <a:spLocks noGrp="1"/>
          </p:cNvSpPr>
          <p:nvPr/>
        </p:nvSpPr>
        <p:spPr>
          <a:xfrm>
            <a:off x="10648950" y="6419850"/>
            <a:ext cx="857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0">
                <a:solidFill>
                  <a:srgbClr val="5D636B"/>
                </a:solidFill>
              </a:defRPr>
            </a:pPr>
            <a:r>
              <a:rPr sz="900" b="0">
                <a:solidFill>
                  <a:srgbClr val="5D636B"/>
                </a:solidFill>
              </a:rPr>
              <a:t>11 / 13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210BA2-1992-4490-9A37-02F87CA10FF5}"/>
              </a:ext>
            </a:extLst>
          </p:cNvPr>
          <p:cNvSpPr>
            <a:spLocks noGrp="1"/>
          </p:cNvSpPr>
          <p:nvPr/>
        </p:nvSpPr>
        <p:spPr>
          <a:xfrm>
            <a:off x="685800" y="1695450"/>
            <a:ext cx="2438400" cy="21526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EB1854-E596-4BFE-803D-5EF67FF83DF0}"/>
              </a:ext>
            </a:extLst>
          </p:cNvPr>
          <p:cNvSpPr>
            <a:spLocks noGrp="1"/>
          </p:cNvSpPr>
          <p:nvPr/>
        </p:nvSpPr>
        <p:spPr>
          <a:xfrm>
            <a:off x="895350" y="19240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C0 · 25 TPS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55253EB-D3B6-4B70-9619-1A4A28BD4899}"/>
              </a:ext>
            </a:extLst>
          </p:cNvPr>
          <p:cNvSpPr>
            <a:spLocks noGrp="1"/>
          </p:cNvSpPr>
          <p:nvPr/>
        </p:nvSpPr>
        <p:spPr>
          <a:xfrm>
            <a:off x="895350" y="2419350"/>
            <a:ext cx="2019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Correctness boundary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F289A34-A2E5-40D5-A648-D0DEEF734B8D}"/>
              </a:ext>
            </a:extLst>
          </p:cNvPr>
          <p:cNvSpPr>
            <a:spLocks noGrp="1"/>
          </p:cNvSpPr>
          <p:nvPr/>
        </p:nvSpPr>
        <p:spPr>
          <a:xfrm>
            <a:off x="895350" y="3143250"/>
            <a:ext cx="20193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5D636B"/>
                </a:solidFill>
              </a:defRPr>
            </a:pPr>
            <a:r>
              <a:rPr sz="1200" b="0">
                <a:solidFill>
                  <a:srgbClr val="5D636B"/>
                </a:solidFill>
              </a:rPr>
              <a:t>Synchronous database path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C1FD76D-55FB-4A39-94D7-ACB82F549A09}"/>
              </a:ext>
            </a:extLst>
          </p:cNvPr>
          <p:cNvSpPr>
            <a:spLocks noGrp="1"/>
          </p:cNvSpPr>
          <p:nvPr/>
        </p:nvSpPr>
        <p:spPr>
          <a:xfrm>
            <a:off x="3429000" y="1695450"/>
            <a:ext cx="2438400" cy="21526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618D95-915F-4CEE-8661-FA3D9B173A02}"/>
              </a:ext>
            </a:extLst>
          </p:cNvPr>
          <p:cNvSpPr>
            <a:spLocks noGrp="1"/>
          </p:cNvSpPr>
          <p:nvPr/>
        </p:nvSpPr>
        <p:spPr>
          <a:xfrm>
            <a:off x="3638550" y="19240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C1 · 30 TPS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0812F9B-27EC-4C1D-BF12-A093F0F6C1C4}"/>
              </a:ext>
            </a:extLst>
          </p:cNvPr>
          <p:cNvSpPr>
            <a:spLocks noGrp="1"/>
          </p:cNvSpPr>
          <p:nvPr/>
        </p:nvSpPr>
        <p:spPr>
          <a:xfrm>
            <a:off x="3638550" y="2419350"/>
            <a:ext cx="2019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Matching backlog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D4D83AA-079F-41AE-A6A6-8EA601A5B571}"/>
              </a:ext>
            </a:extLst>
          </p:cNvPr>
          <p:cNvSpPr>
            <a:spLocks noGrp="1"/>
          </p:cNvSpPr>
          <p:nvPr/>
        </p:nvSpPr>
        <p:spPr>
          <a:xfrm>
            <a:off x="3638550" y="3143250"/>
            <a:ext cx="20193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5D636B"/>
                </a:solidFill>
              </a:defRPr>
            </a:pPr>
            <a:r>
              <a:rPr sz="1200" b="0">
                <a:solidFill>
                  <a:srgbClr val="5D636B"/>
                </a:solidFill>
              </a:rPr>
              <a:t>Database-backed matching</a:t>
            </a:r>
          </a:p>
        </p:txBody>
      </p:sp>
      <p:cxnSp>
        <p:nvCxnSpPr>
          <p:cNvPr id="88" name="Straight Arrow Connector 87"/>
          <p:cNvCxnSpPr>
            <a:stCxn id="5" idx="3"/>
            <a:endCxn id="9" idx="1"/>
          </p:cNvCxnSpPr>
          <p:nvPr/>
        </p:nvCxnSpPr>
        <p:spPr>
          <a:xfrm>
            <a:off x="3124200" y="2771775"/>
            <a:ext cx="304800" cy="0"/>
          </a:xfrm>
          <a:prstGeom prst="straightConnector1">
            <a:avLst/>
          </a:prstGeom>
          <a:ln w="19050">
            <a:solidFill>
              <a:srgbClr val="3D8DFF"/>
            </a:solidFill>
            <a:prstDash val="solid"/>
            <a:tailEnd type="arrow" w="med" len="med"/>
          </a:ln>
        </p:spPr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CACFC3E7-1E77-4AB2-9D7A-ECBE07843512}"/>
              </a:ext>
            </a:extLst>
          </p:cNvPr>
          <p:cNvSpPr>
            <a:spLocks noGrp="1"/>
          </p:cNvSpPr>
          <p:nvPr/>
        </p:nvSpPr>
        <p:spPr>
          <a:xfrm>
            <a:off x="6172200" y="1695450"/>
            <a:ext cx="2438400" cy="21526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DBFE67C-C3B1-4FAA-9E97-36859A544EF9}"/>
              </a:ext>
            </a:extLst>
          </p:cNvPr>
          <p:cNvSpPr>
            <a:spLocks noGrp="1"/>
          </p:cNvSpPr>
          <p:nvPr/>
        </p:nvSpPr>
        <p:spPr>
          <a:xfrm>
            <a:off x="6381750" y="19240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C2 · 35 TPS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A6D115A-91EF-466F-A5DE-4229E350F60B}"/>
              </a:ext>
            </a:extLst>
          </p:cNvPr>
          <p:cNvSpPr>
            <a:spLocks noGrp="1"/>
          </p:cNvSpPr>
          <p:nvPr/>
        </p:nvSpPr>
        <p:spPr>
          <a:xfrm>
            <a:off x="6381750" y="2419350"/>
            <a:ext cx="2019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Finance bottleneck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21556D5-CBF9-4D7F-9D92-F30E32DB12E5}"/>
              </a:ext>
            </a:extLst>
          </p:cNvPr>
          <p:cNvSpPr>
            <a:spLocks noGrp="1"/>
          </p:cNvSpPr>
          <p:nvPr/>
        </p:nvSpPr>
        <p:spPr>
          <a:xfrm>
            <a:off x="6381750" y="3143250"/>
            <a:ext cx="20193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5D636B"/>
                </a:solidFill>
              </a:defRPr>
            </a:pPr>
            <a:r>
              <a:rPr sz="1200" b="0">
                <a:solidFill>
                  <a:srgbClr val="5D636B"/>
                </a:solidFill>
              </a:rPr>
              <a:t>Reservation and settlement</a:t>
            </a:r>
          </a:p>
        </p:txBody>
      </p:sp>
      <p:cxnSp>
        <p:nvCxnSpPr>
          <p:cNvPr id="93" name="Straight Arrow Connector 92"/>
          <p:cNvCxnSpPr>
            <a:stCxn id="9" idx="3"/>
            <a:endCxn id="14" idx="1"/>
          </p:cNvCxnSpPr>
          <p:nvPr/>
        </p:nvCxnSpPr>
        <p:spPr>
          <a:xfrm>
            <a:off x="5867400" y="2771775"/>
            <a:ext cx="304800" cy="0"/>
          </a:xfrm>
          <a:prstGeom prst="straightConnector1">
            <a:avLst/>
          </a:prstGeom>
          <a:ln w="19050">
            <a:solidFill>
              <a:srgbClr val="3D8DFF"/>
            </a:solidFill>
            <a:prstDash val="solid"/>
            <a:tailEnd type="arrow" w="med" len="med"/>
          </a:ln>
        </p:spPr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E7C3D161-B78F-40AF-A598-AE27614B045D}"/>
              </a:ext>
            </a:extLst>
          </p:cNvPr>
          <p:cNvSpPr>
            <a:spLocks noGrp="1"/>
          </p:cNvSpPr>
          <p:nvPr/>
        </p:nvSpPr>
        <p:spPr>
          <a:xfrm>
            <a:off x="8915400" y="1695450"/>
            <a:ext cx="2438400" cy="2152650"/>
          </a:xfrm>
          <a:prstGeom prst="rect">
            <a:avLst/>
          </a:prstGeom>
          <a:solidFill>
            <a:srgbClr val="E9F7FD"/>
          </a:solidFill>
          <a:ln w="9525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5DC396-485A-4780-AB1F-170D85AF5945}"/>
              </a:ext>
            </a:extLst>
          </p:cNvPr>
          <p:cNvSpPr>
            <a:spLocks noGrp="1"/>
          </p:cNvSpPr>
          <p:nvPr/>
        </p:nvSpPr>
        <p:spPr>
          <a:xfrm>
            <a:off x="9124950" y="19240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C3 · 55 TPS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40D1EF7-5390-43E4-B6D3-CBDDB43004FF}"/>
              </a:ext>
            </a:extLst>
          </p:cNvPr>
          <p:cNvSpPr>
            <a:spLocks noGrp="1"/>
          </p:cNvSpPr>
          <p:nvPr/>
        </p:nvSpPr>
        <p:spPr>
          <a:xfrm>
            <a:off x="9124950" y="2419350"/>
            <a:ext cx="2019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Window boundary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3F1953-027A-4771-8866-96628D8FE1CA}"/>
              </a:ext>
            </a:extLst>
          </p:cNvPr>
          <p:cNvSpPr>
            <a:spLocks noGrp="1"/>
          </p:cNvSpPr>
          <p:nvPr/>
        </p:nvSpPr>
        <p:spPr>
          <a:xfrm>
            <a:off x="9124950" y="3143250"/>
            <a:ext cx="20193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5D636B"/>
                </a:solidFill>
              </a:defRPr>
            </a:pPr>
            <a:r>
              <a:rPr sz="1200" b="0">
                <a:solidFill>
                  <a:srgbClr val="5D636B"/>
                </a:solidFill>
              </a:rPr>
              <a:t>60 TPS reached 96.78%</a:t>
            </a:r>
          </a:p>
        </p:txBody>
      </p:sp>
      <p:cxnSp>
        <p:nvCxnSpPr>
          <p:cNvPr id="98" name="Straight Arrow Connector 97"/>
          <p:cNvCxnSpPr>
            <a:stCxn id="14" idx="3"/>
            <a:endCxn id="19" idx="1"/>
          </p:cNvCxnSpPr>
          <p:nvPr/>
        </p:nvCxnSpPr>
        <p:spPr>
          <a:xfrm>
            <a:off x="8610600" y="2771775"/>
            <a:ext cx="304800" cy="0"/>
          </a:xfrm>
          <a:prstGeom prst="straightConnector1">
            <a:avLst/>
          </a:prstGeom>
          <a:ln w="19050">
            <a:solidFill>
              <a:srgbClr val="3D8DFF"/>
            </a:solidFill>
            <a:prstDash val="solid"/>
            <a:tailEnd type="arrow" w="med" len="med"/>
          </a:ln>
        </p:spPr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7581591F-9ABC-4B50-B5F2-F2C171051F8D}"/>
              </a:ext>
            </a:extLst>
          </p:cNvPr>
          <p:cNvSpPr>
            <a:spLocks noGrp="1"/>
          </p:cNvSpPr>
          <p:nvPr/>
        </p:nvSpPr>
        <p:spPr>
          <a:xfrm>
            <a:off x="685800" y="4343400"/>
            <a:ext cx="5219700" cy="1428750"/>
          </a:xfrm>
          <a:prstGeom prst="rect">
            <a:avLst/>
          </a:prstGeom>
          <a:solidFill>
            <a:srgbClr val="E7F5ED"/>
          </a:solidFill>
          <a:ln w="9525">
            <a:solidFill>
              <a:srgbClr val="248A5A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25BAA1-126A-45B8-BA08-B105BB65DD43}"/>
              </a:ext>
            </a:extLst>
          </p:cNvPr>
          <p:cNvSpPr>
            <a:spLocks noGrp="1"/>
          </p:cNvSpPr>
          <p:nvPr/>
        </p:nvSpPr>
        <p:spPr>
          <a:xfrm>
            <a:off x="933450" y="4581525"/>
            <a:ext cx="4476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248A5A"/>
                </a:solidFill>
              </a:defRPr>
            </a:pPr>
            <a:r>
              <a:rPr sz="1050" b="1">
                <a:solidFill>
                  <a:srgbClr val="248A5A"/>
                </a:solidFill>
              </a:rPr>
              <a:t>WHY THE COMPARISON IS RELIABLE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494B025-7123-4EA1-AF7B-344878199186}"/>
              </a:ext>
            </a:extLst>
          </p:cNvPr>
          <p:cNvSpPr>
            <a:spLocks noGrp="1"/>
          </p:cNvSpPr>
          <p:nvPr/>
        </p:nvSpPr>
        <p:spPr>
          <a:xfrm>
            <a:off x="933450" y="4972050"/>
            <a:ext cx="4343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Same workload and pass rules</a:t>
            </a:r>
          </a:p>
          <a:p>
            <a:pPr algn="l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Fresh application runs at every rate</a:t>
            </a:r>
          </a:p>
          <a:p>
            <a:pPr algn="l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Confirmation repeats and correctness checks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71EB99C-8040-400C-B6A9-2B021DC71151}"/>
              </a:ext>
            </a:extLst>
          </p:cNvPr>
          <p:cNvSpPr>
            <a:spLocks noGrp="1"/>
          </p:cNvSpPr>
          <p:nvPr/>
        </p:nvSpPr>
        <p:spPr>
          <a:xfrm>
            <a:off x="6286500" y="4343400"/>
            <a:ext cx="5219700" cy="1428750"/>
          </a:xfrm>
          <a:prstGeom prst="rect">
            <a:avLst/>
          </a:prstGeom>
          <a:solidFill>
            <a:srgbClr val="FFF2D7"/>
          </a:solidFill>
          <a:ln w="9525">
            <a:solidFill>
              <a:srgbClr val="A7670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2B9B1FD-076A-4BED-93B1-F5CEE72E4495}"/>
              </a:ext>
            </a:extLst>
          </p:cNvPr>
          <p:cNvSpPr>
            <a:spLocks noGrp="1"/>
          </p:cNvSpPr>
          <p:nvPr/>
        </p:nvSpPr>
        <p:spPr>
          <a:xfrm>
            <a:off x="6534150" y="4581525"/>
            <a:ext cx="4476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A76700"/>
                </a:solidFill>
              </a:defRPr>
            </a:pPr>
            <a:r>
              <a:rPr sz="1050" b="1">
                <a:solidFill>
                  <a:srgbClr val="A76700"/>
                </a:solidFill>
              </a:rPr>
              <a:t>WHAT THE RESULT DOES NOT CLAIM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BE697E8-3169-4ECD-8BE0-37FB56FAD700}"/>
              </a:ext>
            </a:extLst>
          </p:cNvPr>
          <p:cNvSpPr>
            <a:spLocks noGrp="1"/>
          </p:cNvSpPr>
          <p:nvPr/>
        </p:nvSpPr>
        <p:spPr>
          <a:xfrm>
            <a:off x="6534150" y="4972050"/>
            <a:ext cx="4343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One synthetic workload</a:t>
            </a:r>
          </a:p>
          <a:p>
            <a:pPr algn="l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One local machine</a:t>
            </a:r>
          </a:p>
          <a:p>
            <a:pPr algn="l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Thirty-second measurement windows</a:t>
            </a:r>
          </a:p>
        </p:txBody>
      </p:sp>
    </p:spTree>
    <p:extLst>
      <p:ext uri="{BB962C8B-B14F-4D97-AF65-F5344CB8AC3E}">
        <p14:creationId xmlns:p14="http://schemas.microsoft.com/office/powerpoint/2010/main" val="11462801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FF7D177-3329-440A-A2CB-48B34AC127AA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RESEARCH PLAN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510838D-80B4-49C7-AB06-E9CC8B74A0B1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47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Six weeks from preparation to submission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75356132-7634-49D4-B218-AAD8673F4DDA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1082040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142A09-7620-41C3-AC8E-389DCA248AA3}"/>
              </a:ext>
            </a:extLst>
          </p:cNvPr>
          <p:cNvSpPr>
            <a:spLocks noGrp="1"/>
          </p:cNvSpPr>
          <p:nvPr/>
        </p:nvSpPr>
        <p:spPr>
          <a:xfrm>
            <a:off x="10648950" y="6419850"/>
            <a:ext cx="857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0">
                <a:solidFill>
                  <a:srgbClr val="5D636B"/>
                </a:solidFill>
              </a:defRPr>
            </a:pPr>
            <a:r>
              <a:rPr sz="900" b="0">
                <a:solidFill>
                  <a:srgbClr val="5D636B"/>
                </a:solidFill>
              </a:rPr>
              <a:t>12 / 13</a:t>
            </a:r>
          </a:p>
        </p:txBody>
      </p:sp>
      <p:pic>
        <p:nvPicPr>
          <p:cNvPr id="14" name="Graphic 1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85800" y="1543050"/>
            <a:ext cx="10820400" cy="40005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D3AE7B5-B944-4085-8249-433591675990}"/>
              </a:ext>
            </a:extLst>
          </p:cNvPr>
          <p:cNvSpPr>
            <a:spLocks noGrp="1"/>
          </p:cNvSpPr>
          <p:nvPr/>
        </p:nvSpPr>
        <p:spPr>
          <a:xfrm>
            <a:off x="685800" y="5715000"/>
            <a:ext cx="10820400" cy="457200"/>
          </a:xfrm>
          <a:prstGeom prst="rect">
            <a:avLst/>
          </a:prstGeom>
          <a:solidFill>
            <a:srgbClr val="EDEDED"/>
          </a:solidFill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912A986-A84E-49C1-BD5A-5AA49C83C79D}"/>
              </a:ext>
            </a:extLst>
          </p:cNvPr>
          <p:cNvSpPr>
            <a:spLocks noGrp="1"/>
          </p:cNvSpPr>
          <p:nvPr/>
        </p:nvSpPr>
        <p:spPr>
          <a:xfrm>
            <a:off x="914400" y="5829300"/>
            <a:ext cx="10363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Weeks 1–2: prepare + baseline     ·     Weeks 3–5: implement + evaluate     ·     Week 6: review + submit</a:t>
            </a:r>
          </a:p>
        </p:txBody>
      </p:sp>
    </p:spTree>
    <p:extLst>
      <p:ext uri="{BB962C8B-B14F-4D97-AF65-F5344CB8AC3E}">
        <p14:creationId xmlns:p14="http://schemas.microsoft.com/office/powerpoint/2010/main" val="18310705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2986C494-DA32-4D6B-8CE6-DE12302DC6B0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FINAL ANSWER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AC0E503-EAC4-4399-AF3F-D484A23252B3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99060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925" b="1">
                <a:solidFill>
                  <a:srgbClr val="111111"/>
                </a:solidFill>
              </a:defRPr>
            </a:pPr>
            <a:r>
              <a:rPr sz="2925" b="1">
                <a:solidFill>
                  <a:srgbClr val="111111"/>
                </a:solidFill>
              </a:rPr>
              <a:t>End-to-end measurement guided the system</a:t>
            </a:r>
          </a:p>
          <a:p>
            <a:pPr algn="l">
              <a:buNone/>
              <a:defRPr sz="2925" b="1">
                <a:solidFill>
                  <a:srgbClr val="111111"/>
                </a:solidFill>
              </a:defRPr>
            </a:pPr>
            <a:r>
              <a:rPr sz="2925" b="1">
                <a:solidFill>
                  <a:srgbClr val="111111"/>
                </a:solidFill>
              </a:rPr>
              <a:t>from a 25 TPS baseline to a verified 55 TPS.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725B85-71B6-4204-81D3-F1E38F8124F4}"/>
              </a:ext>
            </a:extLst>
          </p:cNvPr>
          <p:cNvSpPr>
            <a:spLocks noGrp="1"/>
          </p:cNvSpPr>
          <p:nvPr/>
        </p:nvSpPr>
        <p:spPr>
          <a:xfrm>
            <a:off x="685800" y="2571750"/>
            <a:ext cx="1619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5550" b="1">
                <a:solidFill>
                  <a:srgbClr val="111111"/>
                </a:solidFill>
              </a:defRPr>
            </a:pPr>
            <a:r>
              <a:rPr sz="5550" b="1">
                <a:solidFill>
                  <a:srgbClr val="111111"/>
                </a:solidFill>
              </a:rPr>
              <a:t>25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3A8C2C-94BD-4832-815B-926B51A1F042}"/>
              </a:ext>
            </a:extLst>
          </p:cNvPr>
          <p:cNvSpPr>
            <a:spLocks noGrp="1"/>
          </p:cNvSpPr>
          <p:nvPr/>
        </p:nvSpPr>
        <p:spPr>
          <a:xfrm>
            <a:off x="685800" y="3409950"/>
            <a:ext cx="161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500" b="1">
                <a:solidFill>
                  <a:srgbClr val="5D636B"/>
                </a:solidFill>
              </a:defRPr>
            </a:pPr>
            <a:r>
              <a:rPr sz="1500" b="1">
                <a:solidFill>
                  <a:srgbClr val="5D636B"/>
                </a:solidFill>
              </a:rPr>
              <a:t>TPS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A7D3FEC-ABAE-4D67-B4C6-7E93B2205ABA}"/>
              </a:ext>
            </a:extLst>
          </p:cNvPr>
          <p:cNvSpPr>
            <a:spLocks noGrp="1"/>
          </p:cNvSpPr>
          <p:nvPr/>
        </p:nvSpPr>
        <p:spPr>
          <a:xfrm>
            <a:off x="2438400" y="2724150"/>
            <a:ext cx="952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4050" b="1">
                <a:solidFill>
                  <a:srgbClr val="3D8DFF"/>
                </a:solidFill>
              </a:defRPr>
            </a:pPr>
            <a:r>
              <a:rPr sz="4050" b="1">
                <a:solidFill>
                  <a:srgbClr val="3D8DFF"/>
                </a:solidFill>
              </a:rPr>
              <a:t>→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1866BCA-048B-4A15-AA9D-C7C3C17BBD69}"/>
              </a:ext>
            </a:extLst>
          </p:cNvPr>
          <p:cNvSpPr>
            <a:spLocks noGrp="1"/>
          </p:cNvSpPr>
          <p:nvPr/>
        </p:nvSpPr>
        <p:spPr>
          <a:xfrm>
            <a:off x="3524250" y="2571750"/>
            <a:ext cx="1809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5550" b="1">
                <a:solidFill>
                  <a:srgbClr val="3D8DFF"/>
                </a:solidFill>
              </a:defRPr>
            </a:pPr>
            <a:r>
              <a:rPr sz="5550" b="1">
                <a:solidFill>
                  <a:srgbClr val="3D8DFF"/>
                </a:solidFill>
              </a:rPr>
              <a:t>55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46D9268-B552-4010-93F4-E559A2028A4B}"/>
              </a:ext>
            </a:extLst>
          </p:cNvPr>
          <p:cNvSpPr>
            <a:spLocks noGrp="1"/>
          </p:cNvSpPr>
          <p:nvPr/>
        </p:nvSpPr>
        <p:spPr>
          <a:xfrm>
            <a:off x="3524250" y="3409950"/>
            <a:ext cx="180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500" b="1">
                <a:solidFill>
                  <a:srgbClr val="5D636B"/>
                </a:solidFill>
              </a:defRPr>
            </a:pPr>
            <a:r>
              <a:rPr sz="1500" b="1">
                <a:solidFill>
                  <a:srgbClr val="5D636B"/>
                </a:solidFill>
              </a:rPr>
              <a:t>TPS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4D303DD-5086-4B1E-BC47-CE1870064A5A}"/>
              </a:ext>
            </a:extLst>
          </p:cNvPr>
          <p:cNvSpPr>
            <a:spLocks noGrp="1"/>
          </p:cNvSpPr>
          <p:nvPr/>
        </p:nvSpPr>
        <p:spPr>
          <a:xfrm>
            <a:off x="5715000" y="2867025"/>
            <a:ext cx="1428750" cy="457200"/>
          </a:xfrm>
          <a:prstGeom prst="roundRect">
            <a:avLst>
              <a:gd name="adj" fmla="val 50000"/>
            </a:avLst>
          </a:prstGeom>
          <a:solidFill>
            <a:srgbClr val="3D8DFF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165DE7-7E8D-494C-A5ED-75EF58C0AD5A}"/>
              </a:ext>
            </a:extLst>
          </p:cNvPr>
          <p:cNvSpPr>
            <a:spLocks noGrp="1"/>
          </p:cNvSpPr>
          <p:nvPr/>
        </p:nvSpPr>
        <p:spPr>
          <a:xfrm>
            <a:off x="5791200" y="2924175"/>
            <a:ext cx="12763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+120%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86DBC40-F72F-4472-8F4B-0B59BF03BA25}"/>
              </a:ext>
            </a:extLst>
          </p:cNvPr>
          <p:cNvSpPr>
            <a:spLocks noGrp="1"/>
          </p:cNvSpPr>
          <p:nvPr/>
        </p:nvSpPr>
        <p:spPr>
          <a:xfrm>
            <a:off x="7581900" y="2400300"/>
            <a:ext cx="3924300" cy="7810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FAF6B7-34B9-46AE-9F17-FCF7958B5E36}"/>
              </a:ext>
            </a:extLst>
          </p:cNvPr>
          <p:cNvSpPr>
            <a:spLocks noGrp="1"/>
          </p:cNvSpPr>
          <p:nvPr/>
        </p:nvSpPr>
        <p:spPr>
          <a:xfrm>
            <a:off x="7772400" y="2543175"/>
            <a:ext cx="533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RQ1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F212BA0-F662-40B5-AA82-F2AE8228FBF8}"/>
              </a:ext>
            </a:extLst>
          </p:cNvPr>
          <p:cNvSpPr>
            <a:spLocks noGrp="1"/>
          </p:cNvSpPr>
          <p:nvPr/>
        </p:nvSpPr>
        <p:spPr>
          <a:xfrm>
            <a:off x="8401050" y="2514600"/>
            <a:ext cx="28765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C0 sustained 25 TPS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E927F9-6EF6-408B-8020-EF37F49C5682}"/>
              </a:ext>
            </a:extLst>
          </p:cNvPr>
          <p:cNvSpPr>
            <a:spLocks noGrp="1"/>
          </p:cNvSpPr>
          <p:nvPr/>
        </p:nvSpPr>
        <p:spPr>
          <a:xfrm>
            <a:off x="7581900" y="3409950"/>
            <a:ext cx="3924300" cy="7810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3BFD2D5-E324-4563-B5AD-E9C62184C1D0}"/>
              </a:ext>
            </a:extLst>
          </p:cNvPr>
          <p:cNvSpPr>
            <a:spLocks noGrp="1"/>
          </p:cNvSpPr>
          <p:nvPr/>
        </p:nvSpPr>
        <p:spPr>
          <a:xfrm>
            <a:off x="7772400" y="3552825"/>
            <a:ext cx="533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RQ2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2789771-A640-4739-BABB-C13791D0A9B1}"/>
              </a:ext>
            </a:extLst>
          </p:cNvPr>
          <p:cNvSpPr>
            <a:spLocks noGrp="1"/>
          </p:cNvSpPr>
          <p:nvPr/>
        </p:nvSpPr>
        <p:spPr>
          <a:xfrm>
            <a:off x="8401050" y="3524250"/>
            <a:ext cx="28765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Kafka, memory, and Redis each increased the verified boundary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E4B900C-C53A-4BDC-B561-788686557BD8}"/>
              </a:ext>
            </a:extLst>
          </p:cNvPr>
          <p:cNvSpPr>
            <a:spLocks noGrp="1"/>
          </p:cNvSpPr>
          <p:nvPr/>
        </p:nvSpPr>
        <p:spPr>
          <a:xfrm>
            <a:off x="7581900" y="4419600"/>
            <a:ext cx="3924300" cy="781050"/>
          </a:xfrm>
          <a:prstGeom prst="rect">
            <a:avLst/>
          </a:prstGeom>
          <a:solidFill>
            <a:srgbClr val="E9F7FD"/>
          </a:solidFill>
          <a:ln w="9525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98BB3A-1832-4E74-9CE2-ABBF2EECF6BF}"/>
              </a:ext>
            </a:extLst>
          </p:cNvPr>
          <p:cNvSpPr>
            <a:spLocks noGrp="1"/>
          </p:cNvSpPr>
          <p:nvPr/>
        </p:nvSpPr>
        <p:spPr>
          <a:xfrm>
            <a:off x="7772400" y="4562475"/>
            <a:ext cx="533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RQ3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7BC5D97-207D-4C0A-B733-04E8CE11BEA8}"/>
              </a:ext>
            </a:extLst>
          </p:cNvPr>
          <p:cNvSpPr>
            <a:spLocks noGrp="1"/>
          </p:cNvSpPr>
          <p:nvPr/>
        </p:nvSpPr>
        <p:spPr>
          <a:xfrm>
            <a:off x="8401050" y="4533900"/>
            <a:ext cx="28765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C3 achieved the highest verified target: 55 TPS</a:t>
            </a:r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99148FA8-153F-4E06-91C6-ADE805217F59}"/>
              </a:ext>
            </a:extLst>
          </p:cNvPr>
          <p:cNvSpPr>
            <a:spLocks noGrp="1"/>
          </p:cNvSpPr>
          <p:nvPr/>
        </p:nvSpPr>
        <p:spPr>
          <a:xfrm>
            <a:off x="685800" y="4914900"/>
            <a:ext cx="6457950" cy="0"/>
          </a:xfrm>
          <a:prstGeom prst="line">
            <a:avLst/>
          </a:prstGeom>
          <a:noFill/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C589B13-3E99-492F-B1F7-6AEF520938E2}"/>
              </a:ext>
            </a:extLst>
          </p:cNvPr>
          <p:cNvSpPr>
            <a:spLocks noGrp="1"/>
          </p:cNvSpPr>
          <p:nvPr/>
        </p:nvSpPr>
        <p:spPr>
          <a:xfrm>
            <a:off x="685800" y="5219700"/>
            <a:ext cx="6477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Optimise one bottleneck. Measure the complete path again.</a:t>
            </a:r>
          </a:p>
          <a:p>
            <a:pPr algn="l">
              <a:buNone/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Accept the gain only when stability and correctness remain intact.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43DEE76-944E-41BC-AF93-BEA996660543}"/>
              </a:ext>
            </a:extLst>
          </p:cNvPr>
          <p:cNvSpPr>
            <a:spLocks noGrp="1"/>
          </p:cNvSpPr>
          <p:nvPr/>
        </p:nvSpPr>
        <p:spPr>
          <a:xfrm>
            <a:off x="9201150" y="5876925"/>
            <a:ext cx="23050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2325" b="1">
                <a:solidFill>
                  <a:srgbClr val="3D8DFF"/>
                </a:solidFill>
              </a:defRPr>
            </a:pPr>
            <a:r>
              <a:rPr sz="2325" b="1">
                <a:solidFill>
                  <a:srgbClr val="3D8DFF"/>
                </a:solidFill>
              </a:rPr>
              <a:t>Questions?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E07B31F-6C93-412C-BBDD-6B7F0F53ACB4}"/>
              </a:ext>
            </a:extLst>
          </p:cNvPr>
          <p:cNvSpPr>
            <a:spLocks noGrp="1"/>
          </p:cNvSpPr>
          <p:nvPr/>
        </p:nvSpPr>
        <p:spPr>
          <a:xfrm>
            <a:off x="10648950" y="6457950"/>
            <a:ext cx="85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0">
                <a:solidFill>
                  <a:srgbClr val="5D636B"/>
                </a:solidFill>
              </a:defRPr>
            </a:pPr>
            <a:r>
              <a:rPr sz="900" b="0">
                <a:solidFill>
                  <a:srgbClr val="5D636B"/>
                </a:solidFill>
              </a:rPr>
              <a:t>13 / 13</a:t>
            </a:r>
          </a:p>
        </p:txBody>
      </p:sp>
    </p:spTree>
    <p:extLst>
      <p:ext uri="{BB962C8B-B14F-4D97-AF65-F5344CB8AC3E}">
        <p14:creationId xmlns:p14="http://schemas.microsoft.com/office/powerpoint/2010/main" val="52634506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1812</Words>
  <Application>Microsoft Office PowerPoint</Application>
  <DocSecurity>0</DocSecurity>
  <PresentationFormat>Widescreen</PresentationFormat>
  <Paragraphs>334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5" baseType="lpstr"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LOK SHANG RU</cp:lastModifiedBy>
  <cp:revision>1</cp:revision>
  <dcterms:created xsi:type="dcterms:W3CDTF">2026-08-20T12:08:23Z</dcterms:created>
  <dcterms:modified xsi:type="dcterms:W3CDTF">2026-08-20T12:47:31Z</dcterms:modified>
</cp:coreProperties>
</file>