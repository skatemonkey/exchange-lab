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5a5f6daa14181" /><Relationship Type="http://schemas.openxmlformats.org/officeDocument/2006/relationships/extended-properties" Target="/docProps/app.xml" Id="Rded6a832b5a944c2" /><Relationship Type="http://schemas.openxmlformats.org/officeDocument/2006/relationships/officeDocument" Target="/ppt/presentation.xml" Id="R10de566a5b6c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1fedb71a9340d2"/>
  </p:sldMasterIdLst>
  <p:notesMasterIdLst>
    <p:notesMasterId xmlns:r="http://schemas.openxmlformats.org/officeDocument/2006/relationships" r:id="Ra1c80a0765e5447d"/>
  </p:notesMasterIdLst>
  <p:sldIdLst>
    <p:sldId xmlns:r="http://schemas.openxmlformats.org/officeDocument/2006/relationships" id="256" r:id="R04d6f13dcd584e25"/>
    <p:sldId xmlns:r="http://schemas.openxmlformats.org/officeDocument/2006/relationships" id="257" r:id="R8953d6b9fab64175"/>
    <p:sldId xmlns:r="http://schemas.openxmlformats.org/officeDocument/2006/relationships" id="258" r:id="Rb666cc9d6fd447c6"/>
    <p:sldId xmlns:r="http://schemas.openxmlformats.org/officeDocument/2006/relationships" id="259" r:id="R05446f9ca864478e"/>
    <p:sldId xmlns:r="http://schemas.openxmlformats.org/officeDocument/2006/relationships" id="260" r:id="Rb6129eb724fd4c99"/>
    <p:sldId xmlns:r="http://schemas.openxmlformats.org/officeDocument/2006/relationships" id="261" r:id="R2cc61f7fd6594258"/>
    <p:sldId xmlns:r="http://schemas.openxmlformats.org/officeDocument/2006/relationships" id="262" r:id="Re44ea19041974951"/>
    <p:sldId xmlns:r="http://schemas.openxmlformats.org/officeDocument/2006/relationships" id="263" r:id="R321cb227ebff4270"/>
    <p:sldId xmlns:r="http://schemas.openxmlformats.org/officeDocument/2006/relationships" id="264" r:id="R0521c2acf5ef49d0"/>
    <p:sldId xmlns:r="http://schemas.openxmlformats.org/officeDocument/2006/relationships" id="265" r:id="R38db5957071d41b1"/>
    <p:sldId xmlns:r="http://schemas.openxmlformats.org/officeDocument/2006/relationships" id="266" r:id="Rffee145f1cbe4ca6"/>
    <p:sldId xmlns:r="http://schemas.openxmlformats.org/officeDocument/2006/relationships" id="267" r:id="R2d4e0876ef9f441c"/>
    <p:sldId xmlns:r="http://schemas.openxmlformats.org/officeDocument/2006/relationships" id="268" r:id="R962276b41c65459a"/>
    <p:sldId xmlns:r="http://schemas.openxmlformats.org/officeDocument/2006/relationships" id="269" r:id="Rbb549a4fe3134018"/>
    <p:sldId xmlns:r="http://schemas.openxmlformats.org/officeDocument/2006/relationships" id="270" r:id="Rec9765d4b9444540"/>
    <p:sldId xmlns:r="http://schemas.openxmlformats.org/officeDocument/2006/relationships" id="271" r:id="Ra92fec41c98d435c"/>
    <p:sldId xmlns:r="http://schemas.openxmlformats.org/officeDocument/2006/relationships" id="272" r:id="Rad6a23edb1c544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210045e9e34883" /><Relationship Type="http://schemas.openxmlformats.org/officeDocument/2006/relationships/slideMaster" Target="/ppt/slideMasters/slideMaster1.xml" Id="R341fedb71a9340d2" /><Relationship Type="http://schemas.openxmlformats.org/officeDocument/2006/relationships/notesMaster" Target="/ppt/notesMasters/notesMaster1.xml" Id="Ra1c80a0765e5447d" /><Relationship Type="http://schemas.openxmlformats.org/officeDocument/2006/relationships/presProps" Target="/ppt/presProps.xml" Id="Re5e8b1131dfe4b95" /><Relationship Type="http://schemas.openxmlformats.org/officeDocument/2006/relationships/viewProps" Target="/ppt/viewProps.xml" Id="Rb8450ef920124c0b" /><Relationship Type="http://schemas.openxmlformats.org/officeDocument/2006/relationships/tableStyles" Target="/ppt/tableStyles.xml" Id="Rbc3a66ed7d8740a7" /><Relationship Type="http://schemas.openxmlformats.org/officeDocument/2006/relationships/slide" Target="/ppt/slides/slide1.xml" Id="R04d6f13dcd584e25" /><Relationship Type="http://schemas.openxmlformats.org/officeDocument/2006/relationships/slide" Target="/ppt/slides/slide2.xml" Id="R8953d6b9fab64175" /><Relationship Type="http://schemas.openxmlformats.org/officeDocument/2006/relationships/slide" Target="/ppt/slides/slide3.xml" Id="Rb666cc9d6fd447c6" /><Relationship Type="http://schemas.openxmlformats.org/officeDocument/2006/relationships/slide" Target="/ppt/slides/slide4.xml" Id="R05446f9ca864478e" /><Relationship Type="http://schemas.openxmlformats.org/officeDocument/2006/relationships/slide" Target="/ppt/slides/slide5.xml" Id="Rb6129eb724fd4c99" /><Relationship Type="http://schemas.openxmlformats.org/officeDocument/2006/relationships/slide" Target="/ppt/slides/slide6.xml" Id="R2cc61f7fd6594258" /><Relationship Type="http://schemas.openxmlformats.org/officeDocument/2006/relationships/slide" Target="/ppt/slides/slide7.xml" Id="Re44ea19041974951" /><Relationship Type="http://schemas.openxmlformats.org/officeDocument/2006/relationships/slide" Target="/ppt/slides/slide8.xml" Id="R321cb227ebff4270" /><Relationship Type="http://schemas.openxmlformats.org/officeDocument/2006/relationships/slide" Target="/ppt/slides/slide9.xml" Id="R0521c2acf5ef49d0" /><Relationship Type="http://schemas.openxmlformats.org/officeDocument/2006/relationships/slide" Target="/ppt/slides/slide10.xml" Id="R38db5957071d41b1" /><Relationship Type="http://schemas.openxmlformats.org/officeDocument/2006/relationships/slide" Target="/ppt/slides/slide11.xml" Id="Rffee145f1cbe4ca6" /><Relationship Type="http://schemas.openxmlformats.org/officeDocument/2006/relationships/slide" Target="/ppt/slides/slide12.xml" Id="R2d4e0876ef9f441c" /><Relationship Type="http://schemas.openxmlformats.org/officeDocument/2006/relationships/slide" Target="/ppt/slides/slide13.xml" Id="R962276b41c65459a" /><Relationship Type="http://schemas.openxmlformats.org/officeDocument/2006/relationships/slide" Target="/ppt/slides/slide14.xml" Id="Rbb549a4fe3134018" /><Relationship Type="http://schemas.openxmlformats.org/officeDocument/2006/relationships/slide" Target="/ppt/slides/slide15.xml" Id="Rec9765d4b9444540" /><Relationship Type="http://schemas.openxmlformats.org/officeDocument/2006/relationships/slide" Target="/ppt/slides/slide16.xml" Id="Ra92fec41c98d435c" /><Relationship Type="http://schemas.openxmlformats.org/officeDocument/2006/relationships/slide" Target="/ppt/slides/slide17.xml" Id="Rad6a23edb1c5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61e4ce214247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7b6f928a048c7" /><Relationship Type="http://schemas.openxmlformats.org/officeDocument/2006/relationships/notesMaster" Target="/ppt/notesMasters/notesMaster1.xml" Id="R39e2bf6033c043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98cf16261a4baa" /><Relationship Type="http://schemas.openxmlformats.org/officeDocument/2006/relationships/notesMaster" Target="/ppt/notesMasters/notesMaster1.xml" Id="Re9eab7fb29b749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1721ec6f549ae" /><Relationship Type="http://schemas.openxmlformats.org/officeDocument/2006/relationships/notesMaster" Target="/ppt/notesMasters/notesMaster1.xml" Id="Rd3ebedc18766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c6431401554920" /><Relationship Type="http://schemas.openxmlformats.org/officeDocument/2006/relationships/notesMaster" Target="/ppt/notesMasters/notesMaster1.xml" Id="R92e44e700c8449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2282f6885c4290" /><Relationship Type="http://schemas.openxmlformats.org/officeDocument/2006/relationships/notesMaster" Target="/ppt/notesMasters/notesMaster1.xml" Id="R27509e1bf76741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fee80c18ad4e71" /><Relationship Type="http://schemas.openxmlformats.org/officeDocument/2006/relationships/notesMaster" Target="/ppt/notesMasters/notesMaster1.xml" Id="R4ca4c50ec1bd4d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b1f378a3d24da8" /><Relationship Type="http://schemas.openxmlformats.org/officeDocument/2006/relationships/notesMaster" Target="/ppt/notesMasters/notesMaster1.xml" Id="R24a680d7188b49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71e21de0d14696" /><Relationship Type="http://schemas.openxmlformats.org/officeDocument/2006/relationships/notesMaster" Target="/ppt/notesMasters/notesMaster1.xml" Id="Radf29986e53541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f8000609543f1" /><Relationship Type="http://schemas.openxmlformats.org/officeDocument/2006/relationships/notesMaster" Target="/ppt/notesMasters/notesMaster1.xml" Id="R082a6c52c0ea48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a2c4b1a30c4893" /><Relationship Type="http://schemas.openxmlformats.org/officeDocument/2006/relationships/notesMaster" Target="/ppt/notesMasters/notesMaster1.xml" Id="R38cc37adc0f74c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b3b18ac4fa420f" /><Relationship Type="http://schemas.openxmlformats.org/officeDocument/2006/relationships/notesMaster" Target="/ppt/notesMasters/notesMaster1.xml" Id="R0cb66590612142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db2e2c70c64865" /><Relationship Type="http://schemas.openxmlformats.org/officeDocument/2006/relationships/notesMaster" Target="/ppt/notesMasters/notesMaster1.xml" Id="Rdeeeda42af564e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24dfbbb1b945d4" /><Relationship Type="http://schemas.openxmlformats.org/officeDocument/2006/relationships/notesMaster" Target="/ppt/notesMasters/notesMaster1.xml" Id="R5a19adc15ae043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dee033dde34d68" /><Relationship Type="http://schemas.openxmlformats.org/officeDocument/2006/relationships/notesMaster" Target="/ppt/notesMasters/notesMaster1.xml" Id="R8ac29a63c89341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44b486b6d14fe3" /><Relationship Type="http://schemas.openxmlformats.org/officeDocument/2006/relationships/notesMaster" Target="/ppt/notesMasters/notesMaster1.xml" Id="R421df1ea2a2d41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18c96a229944c7" /><Relationship Type="http://schemas.openxmlformats.org/officeDocument/2006/relationships/notesMaster" Target="/ppt/notesMasters/notesMaster1.xml" Id="Rd3d19a36e48148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9ca808126c4437" /><Relationship Type="http://schemas.openxmlformats.org/officeDocument/2006/relationships/notesMaster" Target="/ppt/notesMasters/notesMaster1.xml" Id="Refa70b1367c442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research topic, the Exchange Lab testbed, and the headline result. Explain that the reported increase is based on completed and verified transactions, not accepted requests alone.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high-concurrency systems offer many possible performance techniques at the application, messaging, memory, cache, database, and resource layers. Their effect depends on the system and workload, so the project establishes a baseline, applies selected techniques one at a time, and measures the verified TPS change. The project demonstrates an evidence-based evaluation approach; it does not attempt to catalogue every possible optimisation.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- https://doi.org/10.1016/j.jss.2023.111879</a:t>
            </a:r>
          </a:p>
          <a:p xmlns:a="http://schemas.openxmlformats.org/drawingml/2006/main">
            <a:r>
              <a:t>- https://doi.org/10.1016/j.jss.2024.112183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research gap: techniques are often assessed separately, while a transaction-processing system succeeds or fails as a complete path. The project therefore controls the workload and retests end to end after each architectural change.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https://doi.org/10.1016/j.jss.2023.111879</a:t>
            </a:r>
          </a:p>
          <a:p xmlns:a="http://schemas.openxmlformats.org/drawingml/2006/main">
            <a:r>
              <a:t>- https://doi.org/10.1016/j.jss.2024.112183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questions directly. The aim is deliberately measurable: maximise sustainable TPS. The four objectives describe the evidence path from baseline to verified final result.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explain a limit order and the Exchange Lab flow. Emphasise that the research uses synthetic traders and balances; it is a testbed, not a commercial exchange.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target, accepted, and completed TPS. Explain that asynchronous configurations must complete at least 98% during the 30-second measurement window, then clear all remaining work and Kafka lag during the fixed drain.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C0 to C3. Clarify that C1-C3 use the three-stage service architecture, while the added performance technique is the controlled difference at each stage.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C0 from left to right, then state the single architectural change from the previous configuration.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asset: assignment/workspace/asg-2/assets/mermaid-diagram (1).png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C1 from left to right, then state the single architectural change from the previous configuration.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asset: assignment/workspace/asg-2/assets/mermaid-diagram (2).png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C2 from left to right, then state the single architectural change from the previous configuration.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asset: assignment/workspace/asg-2/assets/mermaid-diagram (3).png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C3 from left to right, then state the single architectural change from the previous configuration.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asset: assignment/workspace/asg-2/assets/mermaid-diagram (4).png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five-step protocol. The key control is a complete application restart and state reset before every rate, followed by Kafka partition assignment checks before load begins.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four sustainable boundaries. The primary comparison is highest passing target TPS; median completed values were 25.03, 30.00, 35.00, and 54.93 TPS respectively.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each nearest failed rate to justify the selected boundary. C0 failed correctness; C1 and C2 failed completion; C3 narrowly missed the 98% in-window threshold.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techniques did not remove all bottlenecks; they moved the limiting stage. Close with reliability controls and the scope limitation: the numerical limits apply to Exchange Lab in this environment.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Summarise the six-week sequence: update literature and prepare the system, establish the baseline, implement and test the staged techniques, complete final evaluation, and submit the report.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V:\base\exchange-platform\1-exchange-lab\assignment\workspace\asg-2\assets\research-plan-gantt.svg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the three research questions explicitly and finish with the central lesson: performance improvements are valid only when the complete transaction path remains stable and correct.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assignment/workspace/asg-2/04-project-proposal.md</a:t>
            </a:r>
          </a:p>
          <a:p xmlns:a="http://schemas.openxmlformats.org/drawingml/2006/main">
            <a:r>
              <a:t>- assignment/workspace/asg-2/05-presentation-slide-outline.md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f9b97f53b46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dcc1bed69c40cf" /><Relationship Type="http://schemas.openxmlformats.org/officeDocument/2006/relationships/slideLayout" Target="/ppt/slideLayouts/slideLayout1.xml" Id="Re2b0083cc0d248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b0083cc0d248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300e01829467f" /><Relationship Type="http://schemas.openxmlformats.org/officeDocument/2006/relationships/notesSlide" Target="/ppt/notesSlides/notesSlide1.xml" Id="Ra205f6bec876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70567847f45f2" /><Relationship Type="http://schemas.openxmlformats.org/officeDocument/2006/relationships/notesSlide" Target="/ppt/notesSlides/notesSlide2.xml" Id="R9e0831b3e8dd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89b6d67ec4ec3" /><Relationship Type="http://schemas.openxmlformats.org/officeDocument/2006/relationships/notesSlide" Target="/ppt/notesSlides/notesSlide3.xml" Id="R628eaf85b14748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e164ebc614cb4" /><Relationship Type="http://schemas.openxmlformats.org/officeDocument/2006/relationships/notesSlide" Target="/ppt/notesSlides/notesSlide4.xml" Id="R132e3f1e2c7a4b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4be5c139944fd" /><Relationship Type="http://schemas.openxmlformats.org/officeDocument/2006/relationships/notesSlide" Target="/ppt/notesSlides/notesSlide5.xml" Id="R55f5f79b8cbb41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bf9dff1534421" /><Relationship Type="http://schemas.openxmlformats.org/officeDocument/2006/relationships/notesSlide" Target="/ppt/notesSlides/notesSlide6.xml" Id="R962fb7b0a65342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71290be26456b" /><Relationship Type="http://schemas.openxmlformats.org/officeDocument/2006/relationships/notesSlide" Target="/ppt/notesSlides/notesSlide7.xml" Id="Ra0a3d6529b0948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adebf72774f8a" /><Relationship Type="http://schemas.openxmlformats.org/officeDocument/2006/relationships/image" Target="/ppt/media/image.png" Id="R607b129f8e4d4f9e" /><Relationship Type="http://schemas.openxmlformats.org/officeDocument/2006/relationships/notesSlide" Target="/ppt/notesSlides/notesSlide8.xml" Id="Rb41bf0d6eb594c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6931db57e450e" /><Relationship Type="http://schemas.openxmlformats.org/officeDocument/2006/relationships/image" Target="/ppt/media/image2.png" Id="Rc57e5cfff4514d37" /><Relationship Type="http://schemas.openxmlformats.org/officeDocument/2006/relationships/notesSlide" Target="/ppt/notesSlides/notesSlide9.xml" Id="R9eac6d95dfb542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bbde398aa41a5" /><Relationship Type="http://schemas.openxmlformats.org/officeDocument/2006/relationships/image" Target="/ppt/media/image3.png" Id="R8cead36eccdf4fb1" /><Relationship Type="http://schemas.openxmlformats.org/officeDocument/2006/relationships/notesSlide" Target="/ppt/notesSlides/notesSlide10.xml" Id="R5e31a88b26ae4a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4d5e0df1643bc" /><Relationship Type="http://schemas.openxmlformats.org/officeDocument/2006/relationships/image" Target="/ppt/media/image4.png" Id="R3e0ff62f04ed437a" /><Relationship Type="http://schemas.openxmlformats.org/officeDocument/2006/relationships/notesSlide" Target="/ppt/notesSlides/notesSlide11.xml" Id="Ra10b5e40a5c342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83b5f17494f6b" /><Relationship Type="http://schemas.openxmlformats.org/officeDocument/2006/relationships/notesSlide" Target="/ppt/notesSlides/notesSlide12.xml" Id="R175b320237b04b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55d19ad964c59" /><Relationship Type="http://schemas.openxmlformats.org/officeDocument/2006/relationships/chart" Target="/ppt/slides/charts/chart1.xml" Id="Re0dfdf4bd1154fa3" /><Relationship Type="http://schemas.openxmlformats.org/officeDocument/2006/relationships/notesSlide" Target="/ppt/notesSlides/notesSlide13.xml" Id="Rff257de71af24f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a79f98c834586" /><Relationship Type="http://schemas.openxmlformats.org/officeDocument/2006/relationships/notesSlide" Target="/ppt/notesSlides/notesSlide14.xml" Id="R06f6da4e34d44b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613cb2dfd4425" /><Relationship Type="http://schemas.openxmlformats.org/officeDocument/2006/relationships/notesSlide" Target="/ppt/notesSlides/notesSlide15.xml" Id="R4fd0c8b638e241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d6fe92f45465d" /><Relationship Type="http://schemas.openxmlformats.org/officeDocument/2006/relationships/image" Target="/ppt/media/image5.png" Id="R19b1119a78c247ae" /><Relationship Type="http://schemas.openxmlformats.org/officeDocument/2006/relationships/image" Target="/ppt/media/image.svg" Id="R70dc0bd814d9468c" /><Relationship Type="http://schemas.openxmlformats.org/officeDocument/2006/relationships/notesSlide" Target="/ppt/notesSlides/notesSlide16.xml" Id="R56875d914c154e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01092f73d4232" /><Relationship Type="http://schemas.openxmlformats.org/officeDocument/2006/relationships/notesSlide" Target="/ppt/notesSlides/notesSlide17.xml" Id="Rd11c37da63384ad3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v>Highest sustainable target TPS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8BC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5B5EA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111111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C0 · MySQL</c:v>
              </c:pt>
              <c:pt idx="1">
                <c:v>C1 · Kafka</c:v>
              </c:pt>
              <c:pt idx="2">
                <c:v>C2 · Memory</c:v>
              </c:pt>
              <c:pt idx="3">
                <c:v>C3 · Redis</c:v>
              </c:pt>
            </c:strLit>
          </c:cat>
          <c:val>
            <c:numLit>
              <c:formatCode>General</c:formatCode>
              <c:ptCount val="4"/>
              <c:pt idx="0">
                <c:v>25</c:v>
              </c:pt>
              <c:pt idx="1">
                <c:v>30</c:v>
              </c:pt>
              <c:pt idx="2">
                <c:v>35</c:v>
              </c:pt>
              <c:pt idx="3">
                <c:v>55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36B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 b="1">
                    <a:solidFill>
                      <a:srgbClr val="5D636B"/>
                    </a:solidFill>
                  </a:rPr>
                  <a:t>TPS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5D636B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36B"/>
                </a:solidFill>
              </a:defRPr>
            </a:pPr>
          </a:p>
        </c:txPr>
        <c:crossAx val="48650112"/>
        <c:crosses val="autoZero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D82C13-0D17-478F-8F27-ACCD21C9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RESEARCH PROJECT PRESENTATION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29AA51-2A0B-473D-B9BD-9BF1BD1F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429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End-to-End Techniques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for Improving Sustainable Throughput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in High-Concurrency Java Microservices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73AD83BD-26B9-4DB7-A726-F6303DF8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6EC9C7F-AF47-4282-9F89-44B80E39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Lok Shang Ru  ·  TP054534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0878C6A-9FB2-41E7-B6E8-C3267131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B"/>
                </a:solidFill>
              </a:defRPr>
            </a:pPr>
            <a:r>
              <a:rPr sz="1275" b="0">
                <a:solidFill>
                  <a:srgbClr val="5D636B"/>
                </a:solidFill>
              </a:rPr>
              <a:t>Master in Artificial Intelligence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636B"/>
                </a:solidFill>
              </a:defRPr>
            </a:pPr>
            <a:r>
              <a:rPr sz="1275" b="0">
                <a:solidFill>
                  <a:srgbClr val="5D636B"/>
                </a:solidFill>
              </a:rPr>
              <a:t>Research Methodology for Computing and Engineering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6AEA637-2F09-4B92-B089-72E6DF5C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B"/>
                </a:solidFill>
              </a:defRPr>
            </a:pPr>
            <a:r>
              <a:rPr sz="1200" b="0">
                <a:solidFill>
                  <a:srgbClr val="5D636B"/>
                </a:solidFill>
              </a:rPr>
              <a:t>Supervisor: Dr. Maznah Mohd Zin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36B"/>
                </a:solidFill>
              </a:defRPr>
            </a:pPr>
            <a:r>
              <a:rPr sz="1200" b="0">
                <a:solidFill>
                  <a:srgbClr val="5D636B"/>
                </a:solidFill>
              </a:rPr>
              <a:t>Lecturer: Dr. Law Foong Li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C694DE-68EC-4D4F-AECF-0B8A8E2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990600"/>
            <a:ext cx="29908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0B2E8FB-17E5-4CCC-9725-9BA2BA57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287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VERIFIED RESULT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5265B1D-2463-4FDC-AAD3-AD40CA1C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24050"/>
            <a:ext cx="222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25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A3D866-FDE7-478F-8223-35BE6147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D636B"/>
                </a:solidFill>
              </a:defRPr>
            </a:pPr>
            <a:r>
              <a:rPr sz="1650" b="1">
                <a:solidFill>
                  <a:srgbClr val="5D636B"/>
                </a:solidFill>
              </a:rPr>
              <a:t>TPS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1E403F6-CA25-454A-89B0-74661390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337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933685F-0437-4FC1-BB6C-90D5E9BA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86175"/>
            <a:ext cx="222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3D8DFF"/>
                </a:solidFill>
              </a:defRPr>
            </a:pPr>
            <a:r>
              <a:rPr sz="5400" b="1">
                <a:solidFill>
                  <a:srgbClr val="3D8DFF"/>
                </a:solidFill>
              </a:rPr>
              <a:t>55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466DDAD-948B-47D3-B095-DAB333CC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148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D636B"/>
                </a:solidFill>
              </a:defRPr>
            </a:pPr>
            <a:r>
              <a:rPr sz="1650" b="1">
                <a:solidFill>
                  <a:srgbClr val="5D636B"/>
                </a:solidFill>
              </a:rPr>
              <a:t>TPS</a:t>
            </a:r>
          </a:p>
        </p:txBody>
      </p:sp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C53C7DB0-DD39-4EB0-A850-9FB89EFB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10200"/>
            <a:ext cx="2152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8792303-07D7-41C0-A49A-FEF44E5E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673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+120% vs baseline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969DDC2-8C0D-4C20-A836-07EEB7D2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008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21 AUGUST 2026</a:t>
            </a:r>
          </a:p>
        </p:txBody>
      </p:sp>
    </p:spTree>
    <p:extLst>
      <p:ext uri="{BB962C8B-B14F-4D97-AF65-F5344CB8AC3E}">
        <p14:creationId xmlns:p14="http://schemas.microsoft.com/office/powerpoint/2010/main" val="106241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EECEE184-EBB8-41B5-B90B-C3007AB6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WHY THIS RESEARCH MATTERS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183E7CC-0920-408D-8971-6BECC402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Many techniques can improve TPS—but which ones work?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46F51125-3C43-4150-ADB1-9F91AB28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293F8CC-272D-41F1-8705-B607685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02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BFA6713-847E-4A2E-9C8E-A41595EB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6672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AC2DCA7B-E468-4E25-9DCB-264050F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1905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99B1F76-49ED-4BDF-8190-CFDFAD1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95475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PERFORMANCE OPTIONS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43AAE17-6428-4286-A076-FFF9DB9B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TPS can improve at many layers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0BF47D3-DA4D-4A4D-A42F-638227DF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B"/>
                </a:solidFill>
              </a:defRPr>
            </a:pPr>
            <a:r>
              <a:rPr sz="1350" b="0">
                <a:solidFill>
                  <a:srgbClr val="5D636B"/>
                </a:solidFill>
              </a:rPr>
              <a:t>Different techniques target different parts of the system.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491394-3D4D-4BEE-801B-19767FA6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8F805FC-0C3C-49A8-968A-98F2324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4805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371AEC-FA22-472A-867C-8D2769E8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7963CF-3928-41D5-83CD-F297A2AD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0050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5F7EC25-9499-40CC-903E-DD2136B4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FAF82C-E86C-4D47-914D-C66F1809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5295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6D36F6C-D4BA-4ABC-AF19-E172A596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BAE135F-77C0-42A1-9774-CB75290B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B7C6D9E-50A1-422D-80ED-469FCECA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407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Different layers · different effects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ABECB1E-B9BC-49D6-8DCC-DEB99CAA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5353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301F5A6-3572-43A8-8201-2F382EA2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28800"/>
            <a:ext cx="1524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B92C16C-66A6-4BB1-92D4-06E51C21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9547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RESEARCH VALUE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E4F4E8D-907F-4D5E-ACA7-D0A4E38E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Technique choice needs evidence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8E37858-60FE-4844-B80C-444990B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36B"/>
                </a:solidFill>
              </a:defRPr>
            </a:pPr>
            <a:r>
              <a:rPr sz="1425" b="0">
                <a:solidFill>
                  <a:srgbClr val="5D636B"/>
                </a:solidFill>
              </a:rPr>
              <a:t>The effect depends on the system and workload. A technique may deliver a major gain, a minor gain, or no useful improvement.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F34C9DA-5AC8-4835-A125-290764A1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C73FCCA-CC4A-4430-A1A9-64C07817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Application concurrency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9AD6ACB-3D83-4754-9163-CFB75C9C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8DDC22C-D03E-4780-B36B-87135E06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52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Kafka messaging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F857A13-17B1-42A6-8FE3-ED39CDE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5A54E0E-8792-4FE3-8A2A-3BD2D2F7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In-memory processing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B31294A4-B1F5-4990-8846-726A3D69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58914E6-F350-4DF7-833E-890713BD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05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Redis caching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EF27521-7C36-4366-87CC-11AA4345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9733FF2-0BC6-477D-95FB-60A0417C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57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Database optimisation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1399C4D5-A90A-48CE-9248-0356FB74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997874C-A69D-4FBF-9BBB-C0CE272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Resource scaling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3D4A9C8-F190-42BC-ACB5-2C3B6580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A9E405D-C3DC-472E-AC50-B942404E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Compare the verified TPS gain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D2BEB22-1D37-460C-BE59-236A25CE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D7995D5C-217F-438F-AA90-5BEE590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Same system · same workload · same measurement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FF6B0F44-680A-4DCB-96CF-C5F49F95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24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Baseline  →  one change  →  measure again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6803F465-2B47-4F63-A234-2C8BEA3C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53100"/>
            <a:ext cx="3200400" cy="4000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B02F7F0-1326-4D87-9D16-D8709721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This research shows which selected techniques genuinely increase TPS in the tested system.</a:t>
            </a:r>
          </a:p>
        </p:txBody>
      </p:sp>
    </p:spTree>
    <p:extLst>
      <p:ext uri="{BB962C8B-B14F-4D97-AF65-F5344CB8AC3E}">
        <p14:creationId xmlns:p14="http://schemas.microsoft.com/office/powerpoint/2010/main" val="1433995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17E7442-D346-4587-928C-C69A4DE3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RESEARCH PROBLEM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2398F35-E0CE-4349-9F0E-9027FE6C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 local speed-up may only move the bottleneck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8A4FAEA5-7795-4A01-82C9-CAC2C832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23047A-E752-4BA7-B660-2191EF74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03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4C66637-D1BB-4430-BF84-D5143AB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36B"/>
                </a:solidFill>
              </a:defRPr>
            </a:pPr>
            <a:r>
              <a:rPr sz="1500" b="0">
                <a:solidFill>
                  <a:srgbClr val="5D636B"/>
                </a:solidFill>
              </a:rPr>
              <a:t>Existing techniques improve different layers, but isolated measurements do not show whether the whole transaction path completes more work.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65A377D-6E26-415D-AA0E-FA088948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A73266F-AC03-4443-A7B9-C74415EA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1E2194-9D19-4AEF-BC95-1A0AEECB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API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A1A3EA8-A814-4539-8692-FB978C8C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574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BA6728F-1EBF-4C24-A0A5-60DCFE76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3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6D3CFBC-F640-43B5-9ADB-96BCE050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Messaging</a:t>
            </a:r>
          </a:p>
        </p:txBody>
      </p:sp>
      <p:cxnSp>
        <p:nvCxnSpPr>
          <p:cNvPr id="140" name="Straight Arrow Connector 91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3840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89C02A2-155E-40B7-A614-D7225B81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574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49B7454-197B-4440-9F50-59E503D8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3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7617464-AE74-4C0E-9C65-CC79D334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Matching</a:t>
            </a:r>
          </a:p>
        </p:txBody>
      </p:sp>
      <p:cxnSp>
        <p:nvCxnSpPr>
          <p:cNvPr id="144" name="Straight Arrow Connector 95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9105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CAFEE62-6140-4266-8BE4-19195787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B707C2B-1A61-4015-98D7-0F32FEA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3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F336EC9-FA13-473F-A70B-D621FC9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Reservation</a:t>
            </a:r>
          </a:p>
        </p:txBody>
      </p:sp>
      <p:cxnSp>
        <p:nvCxnSpPr>
          <p:cNvPr id="148" name="Straight Arrow Connector 99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74370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9628618-4503-4BF8-B192-EFC3383B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505AA44-8D41-45B4-AB11-1A1D78E1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3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C79E873-55BC-4144-AB85-1C64690C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Database</a:t>
            </a:r>
          </a:p>
        </p:txBody>
      </p:sp>
      <p:cxnSp>
        <p:nvCxnSpPr>
          <p:cNvPr id="152" name="Straight Arrow Connector 103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896350" y="3009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52A8855A-F7CA-4D56-8767-EB65C1E5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33800"/>
            <a:ext cx="14668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3E4D"/>
          </a:solidFill>
          <a:ln xmlns:a="http://schemas.openxmlformats.org/drawingml/2006/main" w="9525">
            <a:solidFill>
              <a:srgbClr val="C83E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AA1E338-7802-419E-BDDD-F8F1FD98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790950"/>
            <a:ext cx="1314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BOTTLENECK</a:t>
            </a:r>
          </a:p>
        </p:txBody>
      </p:sp>
      <p:sp>
        <p:nvSpPr>
          <p:cNvPr id="27" name="Straight Connector 26">
            <a:extLst xmlns:a="http://schemas.openxmlformats.org/drawingml/2006/main">
              <a:ext uri="{FF2B5EF4-FFF2-40B4-BE49-F238E27FC236}">
                <a16:creationId xmlns:a16="http://schemas.microsoft.com/office/drawing/2014/main" id="{16437A36-2A9B-4E96-94D4-A3A38239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3E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904A6F4-7D2A-4601-96C5-2A14BE1C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AD67D7D-7798-48D3-AE4B-C94EA483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Research question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2F12F04-3B04-4EA6-BE3B-E3EC9C59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339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Which changes genuinely increase sustainable completed TPS across the same end-to-end path?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3E5DBB2-12DC-42A8-8041-B7E25EF5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91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8BCC4"/>
                </a:solidFill>
              </a:defRPr>
            </a:pPr>
            <a:r>
              <a:rPr sz="1200" b="0">
                <a:solidFill>
                  <a:srgbClr val="B8BCC4"/>
                </a:solidFill>
              </a:rPr>
              <a:t>Measure the whole path again after every change.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4AA96EC-89A6-4E41-90C7-6C37E18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Sources: Henning &amp; Hasselbring (2024); Meijer et al. (2024)</a:t>
            </a:r>
          </a:p>
        </p:txBody>
      </p:sp>
    </p:spTree>
    <p:extLst>
      <p:ext uri="{BB962C8B-B14F-4D97-AF65-F5344CB8AC3E}">
        <p14:creationId xmlns:p14="http://schemas.microsoft.com/office/powerpoint/2010/main" val="1047124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0EA9AFE-C6F3-4DB9-B27E-DB124774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RESEARCH DIRECTION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7FFC37-4400-45CF-AB6F-26B63C35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Three questions lead to one measurable aim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6144FA0F-6678-434C-A602-B00AE2A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DA50AC-64C9-4363-BE11-886D61E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04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F815097-A8A7-4F5B-940E-6602543D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6DD8B365-718E-42F8-8C2F-60A919D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1D67152-1E1C-4209-A0C5-76DE7151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A4D4C0-D24E-4115-88AE-2D610A7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What TPS can the original system sustain?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BCD603F-F3E5-4500-9171-0741423F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81150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C8D0064C-D73E-40B6-BA53-ABF94193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D3A7272-E27D-4968-A6A9-FC96A0D9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66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E8D6C84-D327-4230-84D3-6AF009A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Which techniques increase sustainable TPS—and by how much?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6F87799-9492-4685-9353-4973824B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312F37BF-260B-42C1-AF6A-300F1B5F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55A3E40-2CBA-4975-8D7E-1452242E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06AC533-5D35-4492-A32B-8DBF643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What is the highest sustainable TPS achieved?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B19CFCE-14B3-48E5-AEDD-D4B364FE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95750"/>
            <a:ext cx="883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6A28827-2166-4DD4-8640-DDA2AFFA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91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AIM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B89105B-A907-4852-8CF7-0220525D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767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Maximise the sustainable TPS of the selected Java transaction-processing system.</a:t>
            </a:r>
          </a:p>
        </p:txBody>
      </p:sp>
      <p:cxnSp>
        <p:nvCxnSpPr>
          <p:cNvPr id="128" name="Straight Arrow Connector 87"/>
          <p:cNvCxnSpPr>
            <a:stCxn xmlns:a="http://schemas.openxmlformats.org/drawingml/2006/main" id="9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19800" y="3390900"/>
            <a:ext cx="762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7F7AA2F5-6DFA-4C7E-BB57-C3D9AC6E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22669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BD824E7-7239-4D68-8AAE-40AB4721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1. Measure baseline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943A29FE-47CD-4EB1-8EB1-0AB49E2A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67350"/>
            <a:ext cx="22669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1219E80-5E0A-424F-BFB0-4BECF778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2. Select techniques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8E9898FD-D3A4-49F5-8E38-ED16D1C2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67350"/>
            <a:ext cx="22669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EE89829-1123-42AB-9033-0E4F0F9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245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3. Apply changes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68F5DA9D-3DFC-4A25-BAF3-AC4FF298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67350"/>
            <a:ext cx="22669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CC762E5-055F-4C3B-B804-E8CD9AAE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245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4. Verify highest TPS</a:t>
            </a:r>
          </a:p>
        </p:txBody>
      </p:sp>
    </p:spTree>
    <p:extLst>
      <p:ext uri="{BB962C8B-B14F-4D97-AF65-F5344CB8AC3E}">
        <p14:creationId xmlns:p14="http://schemas.microsoft.com/office/powerpoint/2010/main" val="17336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D772D9E-9D5F-46EC-B6DB-3154AFD5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EXPERIMENTAL SYSTEM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EB1D89D-23FE-4182-961C-3D816397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Exchange Lab models a verifiable limit-order transaction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349312B-77F5-4C3F-A6BA-B64823C0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921E17C-44F3-4778-8280-FBD25E04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05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D98ADA3-1D78-465E-92DD-1C537608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36B"/>
                </a:solidFill>
              </a:defRPr>
            </a:pPr>
            <a:r>
              <a:rPr sz="1500" b="0">
                <a:solidFill>
                  <a:srgbClr val="5D636B"/>
                </a:solidFill>
              </a:rPr>
              <a:t>Synthetic traders submit limit buy and sell orders. Every order can be traced from intake to final cash and stock settlement.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F0AA6DB-9E88-475A-AEF6-D6CC43DA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52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FFE9BD-8F97-47B1-B7CB-91F6E7F9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9B431D-53A9-4BA6-89A1-A0A88254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Submit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1E2FBDA-B99A-4A49-9A25-666316D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36B"/>
                </a:solidFill>
              </a:defRPr>
            </a:pPr>
            <a:r>
              <a:rPr sz="1125" b="0">
                <a:solidFill>
                  <a:srgbClr val="5D636B"/>
                </a:solidFill>
              </a:rPr>
              <a:t>symbol · quantity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D636B"/>
                </a:solidFill>
              </a:defRPr>
            </a:pPr>
            <a:r>
              <a:rPr sz="1125" b="0">
                <a:solidFill>
                  <a:srgbClr val="5D636B"/>
                </a:solidFill>
              </a:rPr>
              <a:t>limit price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4F9C3BB-94DD-4D16-AC3D-A29BDD4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152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862A5CA-5FCA-4D38-8C46-1D46597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C2D5219-1DC9-4F33-BA2A-CE9F26FA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67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Reserve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B17D6AF-3E15-495D-B382-6162704B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05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36B"/>
                </a:solidFill>
              </a:defRPr>
            </a:pPr>
            <a:r>
              <a:rPr sz="1125" b="0">
                <a:solidFill>
                  <a:srgbClr val="5D636B"/>
                </a:solidFill>
              </a:rPr>
              <a:t>cash or stock</a:t>
            </a:r>
          </a:p>
        </p:txBody>
      </p:sp>
      <p:cxnSp>
        <p:nvCxnSpPr>
          <p:cNvPr id="187" name="Straight Arrow Connector 118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09800" y="3267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EEA4C13-DC85-4412-82A3-D797EEF8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52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74F578D-862C-42B7-8DCA-C165DC06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FFACC2B-D9B2-4B38-951A-0FB6542B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Match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6EAA981-EE95-4E73-8102-852C3EB8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36B"/>
                </a:solidFill>
              </a:defRPr>
            </a:pPr>
            <a:r>
              <a:rPr sz="1125" b="0">
                <a:solidFill>
                  <a:srgbClr val="5D636B"/>
                </a:solidFill>
              </a:rPr>
              <a:t>price–time priority</a:t>
            </a:r>
          </a:p>
        </p:txBody>
      </p:sp>
      <p:cxnSp>
        <p:nvCxnSpPr>
          <p:cNvPr id="192" name="Straight Arrow Connector 123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19550" y="3267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ECFC2A4-33D9-4F21-8C43-D7F7A4A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52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163FE88-724D-47FF-8CC1-378E1D1F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304AC2A-8FFB-4EAA-8439-02FEC5C3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Record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F399E18-A81F-457E-9B7F-41452305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36B"/>
                </a:solidFill>
              </a:defRPr>
            </a:pPr>
            <a:r>
              <a:rPr sz="1125" b="0">
                <a:solidFill>
                  <a:srgbClr val="5D636B"/>
                </a:solidFill>
              </a:rPr>
              <a:t>order and trade</a:t>
            </a:r>
          </a:p>
        </p:txBody>
      </p:sp>
      <p:cxnSp>
        <p:nvCxnSpPr>
          <p:cNvPr id="197" name="Straight Arrow Connector 128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829300" y="3267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DEB29F4-58E6-4E31-BC5D-84EB24AA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152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B0C6267-5ACD-436A-8671-8C6D686D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4A28F7D-BEAF-41A5-A84B-6A0BB3A7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Settle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EF4972-A84D-4890-8112-4F3EB0E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36B"/>
                </a:solidFill>
              </a:defRPr>
            </a:pPr>
            <a:r>
              <a:rPr sz="1125" b="0">
                <a:solidFill>
                  <a:srgbClr val="5D636B"/>
                </a:solidFill>
              </a:rPr>
              <a:t>cash and stock</a:t>
            </a:r>
          </a:p>
        </p:txBody>
      </p:sp>
      <p:cxnSp>
        <p:nvCxnSpPr>
          <p:cNvPr id="202" name="Straight Arrow Connector 133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639050" y="3267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2B94050-63FF-4DDB-986B-45DC90BB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524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6B9B71A-2CD9-4879-A2B9-D1F352D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868916C-729A-40BA-BE03-5A5F05C7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Complete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25D094F-BFFC-4D22-9AA1-572755CB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05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36B"/>
                </a:solidFill>
              </a:defRPr>
            </a:pPr>
            <a:r>
              <a:rPr sz="1125" b="0">
                <a:solidFill>
                  <a:srgbClr val="5D636B"/>
                </a:solidFill>
              </a:rPr>
              <a:t>verified state</a:t>
            </a:r>
          </a:p>
        </p:txBody>
      </p:sp>
      <p:cxnSp>
        <p:nvCxnSpPr>
          <p:cNvPr id="207" name="Straight Arrow Connector 138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448800" y="32670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2E55E10B-A674-42B6-8737-8B334BEA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18892F2A-22AB-4D05-9C7E-5FA7671F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Why this testbed works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A5B2CE0-5BD6-4981-B87E-B7C31C11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57750"/>
            <a:ext cx="7867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The workflow is concurrent, stateful, and correctness-sensitive—so unfinished or incorrect work cannot be mistaken for throughput.</a:t>
            </a:r>
          </a:p>
        </p:txBody>
      </p:sp>
    </p:spTree>
    <p:extLst>
      <p:ext uri="{BB962C8B-B14F-4D97-AF65-F5344CB8AC3E}">
        <p14:creationId xmlns:p14="http://schemas.microsoft.com/office/powerpoint/2010/main" val="907999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D10F19B-F3ED-4949-B8E5-D4545E51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EXPERIMENTAL DESIGN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378387C-95D0-49A3-B973-18E80471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 rate passes only when all three gates pass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47C3FE0C-C8DC-4BCF-ABC9-328EFCF1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91888BC-A882-492C-ABA8-CE6B055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06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1FC3725-FFA6-4528-B9DD-2B0AA27A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52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E854F173-CC44-4DEA-AFE3-8B94959F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2BF7616-3DA9-4CFC-8033-8D6D2546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A7233A9-ACE8-4477-96AE-E705BD36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14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Throughput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7A5709E-0523-44B6-8CC2-F86B3C0F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B70E256-AB9A-48A8-81B4-35B4C15C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Target TPS configured in k6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306527A-12A7-4E7D-BE33-EC01E961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89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✓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E731DCB-805A-4BF9-A226-550E65D9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90875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≥98% complete in-window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B63DD4-E31E-4431-9CEE-74E8C1C9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✓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9DF9C26-71AE-49D7-B1F6-F64CA774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Completed TPS keeps pace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6F72424-9C75-4F6A-861B-434E5AE4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352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7"/>
          </a:solidFill>
          <a:ln xmlns:a="http://schemas.openxmlformats.org/drawingml/2006/main" w="19050">
            <a:solidFill>
              <a:srgbClr val="A767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E469834-355B-46DF-BD2D-F8EA237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6700"/>
          </a:solidFill>
          <a:ln xmlns:a="http://schemas.openxmlformats.org/drawingml/2006/main" w="9525">
            <a:solidFill>
              <a:srgbClr val="A767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8030DB-94C6-40C7-9B1B-8F6FCE10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404202D-B911-420A-84CB-A3890078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14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76700"/>
                </a:solidFill>
              </a:defRPr>
            </a:pPr>
            <a:r>
              <a:rPr sz="1875" b="1">
                <a:solidFill>
                  <a:srgbClr val="A76700"/>
                </a:solidFill>
              </a:rPr>
              <a:t>Stability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6B53592-45CA-4976-A8B4-FA51631D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76700"/>
                </a:solidFill>
              </a:defRPr>
            </a:pPr>
            <a:r>
              <a:rPr sz="1350" b="1">
                <a:solidFill>
                  <a:srgbClr val="A76700"/>
                </a:solidFill>
              </a:rPr>
              <a:t>✓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8DD76B9-C53D-480A-8E12-B3C20361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Zero unfinished work after drain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46A4CD-1B6D-4F3A-8EDE-56024D89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289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76700"/>
                </a:solidFill>
              </a:defRPr>
            </a:pPr>
            <a:r>
              <a:rPr sz="1350" b="1">
                <a:solidFill>
                  <a:srgbClr val="A76700"/>
                </a:solidFill>
              </a:rPr>
              <a:t>✓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407AAF1-321E-49A5-9E40-B9912CFD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90875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Zero Kafka lag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55FF48C-1DF3-4282-96F2-56936491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76700"/>
                </a:solidFill>
              </a:defRPr>
            </a:pPr>
            <a:r>
              <a:rPr sz="1350" b="1">
                <a:solidFill>
                  <a:srgbClr val="A76700"/>
                </a:solidFill>
              </a:rPr>
              <a:t>✓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14B682-D4E7-49AB-A5B6-2E5FC5DC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 failed requests or iterations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E4C8785-096D-4B54-AB7C-C52C18DB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3352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D"/>
          </a:solidFill>
          <a:ln xmlns:a="http://schemas.openxmlformats.org/drawingml/2006/main" w="19050">
            <a:solidFill>
              <a:srgbClr val="24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: Rounded Corners 25">
            <a:extLst xmlns:a="http://schemas.openxmlformats.org/drawingml/2006/main">
              <a:ext uri="{FF2B5EF4-FFF2-40B4-BE49-F238E27FC236}">
                <a16:creationId xmlns:a16="http://schemas.microsoft.com/office/drawing/2014/main" id="{CB5FD47B-9ACE-4A91-B84B-F5AE035F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85950"/>
            <a:ext cx="514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8A5A"/>
          </a:solidFill>
          <a:ln xmlns:a="http://schemas.openxmlformats.org/drawingml/2006/main" w="9525">
            <a:solidFill>
              <a:srgbClr val="24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8B7CD28-D9E8-4AA4-B6F7-152CEB90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57C847C-3202-472F-A720-2DBF3D8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14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8A5A"/>
                </a:solidFill>
              </a:defRPr>
            </a:pPr>
            <a:r>
              <a:rPr sz="1875" b="1">
                <a:solidFill>
                  <a:srgbClr val="248A5A"/>
                </a:solidFill>
              </a:rPr>
              <a:t>Correctness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68677F1-DDBA-4E6C-BF0B-992AA84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8A5A"/>
                </a:solidFill>
              </a:defRPr>
            </a:pPr>
            <a:r>
              <a:rPr sz="1350" b="1">
                <a:solidFill>
                  <a:srgbClr val="248A5A"/>
                </a:solidFill>
              </a:rPr>
              <a:t>✓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CFAA567-4CCE-4D44-B4E6-648F653D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All SQL checks pass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B37AD8F-634C-4F2D-B5A5-017960E0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2897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8A5A"/>
                </a:solidFill>
              </a:defRPr>
            </a:pPr>
            <a:r>
              <a:rPr sz="1350" b="1">
                <a:solidFill>
                  <a:srgbClr val="248A5A"/>
                </a:solidFill>
              </a:rPr>
              <a:t>✓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1A9EC1E0-568C-4431-B22B-7E862B8C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90875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Reservations and balances agree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B976C0CF-29FB-4FBA-BE87-E40EEE1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8A5A"/>
                </a:solidFill>
              </a:defRPr>
            </a:pPr>
            <a:r>
              <a:rPr sz="1350" b="1">
                <a:solidFill>
                  <a:srgbClr val="248A5A"/>
                </a:solidFill>
              </a:rPr>
              <a:t>✓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1863B76-FD11-4B33-A864-EF135658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C3 also passes Redis checks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DD32F14-F337-4876-9912-3E2E2E94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A3E81EFB-9B53-4659-BB75-0CAB81E1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DCBF4"/>
                </a:solidFill>
              </a:defRPr>
            </a:pPr>
            <a:r>
              <a:rPr sz="1125" b="1">
                <a:solidFill>
                  <a:srgbClr val="6DCBF4"/>
                </a:solidFill>
              </a:rPr>
              <a:t>SUSTAINABLE TPS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F3323BCA-C813-41A9-9F37-C256DF10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435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Highest target rate that passes at least two confirmation runs.</a:t>
            </a:r>
          </a:p>
        </p:txBody>
      </p:sp>
    </p:spTree>
    <p:extLst>
      <p:ext uri="{BB962C8B-B14F-4D97-AF65-F5344CB8AC3E}">
        <p14:creationId xmlns:p14="http://schemas.microsoft.com/office/powerpoint/2010/main" val="1132122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1861AA2-F429-4C14-82FD-44D176AC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EXPERIMENTAL CONFIGURATIONS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52635F-69A0-4415-A4EA-D02093E7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Each stage adds one major technique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A11EDF22-677B-4B32-B39E-51BDE9DE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CAEE4E-43EC-471F-8FFF-E13C1C47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07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7D65B26-14E6-4B64-8DE0-F3736454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38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07511166-ED5E-4A84-9DDC-7FA2429E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AE0C885-24CC-4AF8-A3FD-8F8FE43A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C0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0D07826-1F78-48AA-8C43-1ACA199F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Synchronous MySQL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3532227-9BDD-41EB-9542-7277B10F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B"/>
                </a:solidFill>
              </a:defRPr>
            </a:pPr>
            <a:r>
              <a:rPr sz="1350" b="0">
                <a:solidFill>
                  <a:srgbClr val="5D636B"/>
                </a:solidFill>
              </a:rPr>
              <a:t>All steps complete before the API returns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D15F43-9FB2-4C92-923C-3AF37520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BASELINE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5766C3-8FC8-42CF-9C9F-F297CB2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438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939EC94-C80F-4E53-9493-89A72F01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431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2D21B92-4B06-4E14-A8C9-5F1CEA10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8AAFE03-EF96-418C-B1C4-5B3ED6C8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Kafka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B9F576F-389D-4845-99E7-0A15232B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5280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B"/>
                </a:solidFill>
              </a:defRPr>
            </a:pPr>
            <a:r>
              <a:rPr sz="1350" b="0">
                <a:solidFill>
                  <a:srgbClr val="5D636B"/>
                </a:solidFill>
              </a:rPr>
              <a:t>Separate intake, matching, and settlement stages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849B7F9-6768-46D2-BB02-40D70494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148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+ MESSAGING</a:t>
            </a:r>
          </a:p>
        </p:txBody>
      </p:sp>
      <p:cxnSp>
        <p:nvCxnSpPr>
          <p:cNvPr id="173" name="Straight Arrow Connector 110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24200" y="3381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2065871-3471-4006-8D71-2CD81229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438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D21D17F5-C7EB-429A-952F-1978A485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BE55541-970C-496B-B99C-B16C928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F8419E1-5D37-49B3-9330-5532C3D3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In-memory matching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C3C1147-966B-4494-84CE-CCE043FA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B"/>
                </a:solidFill>
              </a:defRPr>
            </a:pPr>
            <a:r>
              <a:rPr sz="1350" b="0">
                <a:solidFill>
                  <a:srgbClr val="5D636B"/>
                </a:solidFill>
              </a:rPr>
              <a:t>Rebuild and search a price–time order book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404EE86-B361-49D2-8EF7-E8B5434D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+ MEMORY</a:t>
            </a:r>
          </a:p>
        </p:txBody>
      </p:sp>
      <p:cxnSp>
        <p:nvCxnSpPr>
          <p:cNvPr id="180" name="Straight Arrow Connector 117"/>
          <p:cNvCxnSpPr>
            <a:stCxn xmlns:a="http://schemas.openxmlformats.org/drawingml/2006/main" id="11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3381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6243426-1D78-422B-81B3-E35ADCB4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438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19050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: Rounded Corners 25">
            <a:extLst xmlns:a="http://schemas.openxmlformats.org/drawingml/2006/main">
              <a:ext uri="{FF2B5EF4-FFF2-40B4-BE49-F238E27FC236}">
                <a16:creationId xmlns:a16="http://schemas.microsoft.com/office/drawing/2014/main" id="{C10C8474-8900-4EE4-8433-2221DC84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96D1AB-5611-46E4-AC8C-92F5134A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68918E7-F6E5-4D29-B3EA-16879AF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Redis reservation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22E31EF-A0E2-4D6C-ABD0-8A96A2A0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36B"/>
                </a:solidFill>
              </a:defRPr>
            </a:pPr>
            <a:r>
              <a:rPr sz="1350" b="0">
                <a:solidFill>
                  <a:srgbClr val="5D636B"/>
                </a:solidFill>
              </a:rPr>
              <a:t>Reserve cash and stock before MySQL settlement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6AA2AC4-B39D-41ED-B851-2409782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+ CACHE</a:t>
            </a:r>
          </a:p>
        </p:txBody>
      </p:sp>
      <p:cxnSp>
        <p:nvCxnSpPr>
          <p:cNvPr id="187" name="Straight Arrow Connector 124"/>
          <p:cNvCxnSpPr>
            <a:stCxn xmlns:a="http://schemas.openxmlformats.org/drawingml/2006/main" id="18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610600" y="33813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95B9CE0-3F28-4AA0-8364-DD53274B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636B"/>
                </a:solidFill>
              </a:defRPr>
            </a:pPr>
            <a:r>
              <a:rPr sz="1350" b="1">
                <a:solidFill>
                  <a:srgbClr val="5D636B"/>
                </a:solidFill>
              </a:rPr>
              <a:t>Same workload  ·  Same machine  ·  Same pass rules  ·  Fresh applications at every tested rate</a:t>
            </a:r>
          </a:p>
        </p:txBody>
      </p:sp>
    </p:spTree>
    <p:extLst>
      <p:ext uri="{BB962C8B-B14F-4D97-AF65-F5344CB8AC3E}">
        <p14:creationId xmlns:p14="http://schemas.microsoft.com/office/powerpoint/2010/main" val="1803809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FF7D177-3329-440A-A2CB-48B34AC1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CONFIGURATION ARCHITECTURE · C0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10838D-80B4-49C7-AB06-E9CC8B74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C0: All processing remains synchronous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75356132-7634-49D4-B218-AAD8673F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142A09-7620-41C3-AC8E-389DCA24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08 / 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D3AE7B5-B944-4085-8249-4335916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12A986-A84E-49C1-BD5A-5AA49C8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One request completes matching, reservation, and settlement before the API returns.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b129f8e4d4f9e"/>
          <a:stretch xmlns:a="http://schemas.openxmlformats.org/drawingml/2006/main"/>
        </p:blipFill>
        <p:spPr>
          <a:xfrm xmlns:a="http://schemas.openxmlformats.org/drawingml/2006/main">
            <a:off x="304800" y="2532089"/>
            <a:ext cx="11582400" cy="19652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70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FF7D177-3329-440A-A2CB-48B34AC1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CONFIGURATION ARCHITECTURE · C1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10838D-80B4-49C7-AB06-E9CC8B74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C1: Kafka separates the processing stages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75356132-7634-49D4-B218-AAD8673F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142A09-7620-41C3-AC8E-389DCA24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09 / 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D3AE7B5-B944-4085-8249-4335916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12A986-A84E-49C1-BD5A-5AA49C8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Kafka separates intake, matching, and settlement while MySQL stores the system state.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e5cfff4514d37"/>
          <a:stretch xmlns:a="http://schemas.openxmlformats.org/drawingml/2006/main"/>
        </p:blipFill>
        <p:spPr>
          <a:xfrm xmlns:a="http://schemas.openxmlformats.org/drawingml/2006/main">
            <a:off x="304800" y="2416483"/>
            <a:ext cx="11582400" cy="21964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705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FF7D177-3329-440A-A2CB-48B34AC1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CONFIGURATION ARCHITECTURE · C2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10838D-80B4-49C7-AB06-E9CC8B74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C2: Matching moves to an in-memory order book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75356132-7634-49D4-B218-AAD8673F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142A09-7620-41C3-AC8E-389DCA24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10 / 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D3AE7B5-B944-4085-8249-4335916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12A986-A84E-49C1-BD5A-5AA49C8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Kafka remains in the flow, while matching searches an in-memory price–time order book.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ad36eccdf4fb1"/>
          <a:stretch xmlns:a="http://schemas.openxmlformats.org/drawingml/2006/main"/>
        </p:blipFill>
        <p:spPr>
          <a:xfrm xmlns:a="http://schemas.openxmlformats.org/drawingml/2006/main">
            <a:off x="304800" y="1930291"/>
            <a:ext cx="11582400" cy="31688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70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FF7D177-3329-440A-A2CB-48B34AC1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CONFIGURATION ARCHITECTURE · C3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10838D-80B4-49C7-AB06-E9CC8B74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C3: Redis adds fast reservation state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75356132-7634-49D4-B218-AAD8673F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142A09-7620-41C3-AC8E-389DCA24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11 / 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D3AE7B5-B944-4085-8249-4335916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12A986-A84E-49C1-BD5A-5AA49C8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Redis reserves cash and stock before the final state is settled to MySQL.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ff62f04ed437a"/>
          <a:stretch xmlns:a="http://schemas.openxmlformats.org/drawingml/2006/main"/>
        </p:blipFill>
        <p:spPr>
          <a:xfrm xmlns:a="http://schemas.openxmlformats.org/drawingml/2006/main">
            <a:off x="304800" y="2332953"/>
            <a:ext cx="11582400" cy="23635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70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0FB5ADD-90E1-4349-B5F7-8A884478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EXPERIMENTAL PROCEDURE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F93271-69C7-44BA-83FC-239F188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Every measured rate uses the same fresh-start protocol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F1D79BB9-AB60-4866-8BBB-F07FD8CD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8979E7-A5AF-4020-8377-6208B218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12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971B42-8C94-47B4-AFA1-6CC091E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9240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A94C014-4B6D-45E4-A46D-DAF5F0EA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46856FC-801A-4283-8CA1-99E3318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Prepare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2D25AC-D366-43D4-9D21-9EB4FC34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81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B"/>
                </a:solidFill>
              </a:defRPr>
            </a:pPr>
            <a:r>
              <a:rPr sz="1275" b="0">
                <a:solidFill>
                  <a:srgbClr val="5D636B"/>
                </a:solidFill>
              </a:rPr>
              <a:t>Stop applications; clear old consumers; reset and seed state.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79055C0-75DF-4D31-B5E2-F4BAC4FE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19240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C964033-F1A2-4D0D-9C99-A981D6BB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9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4D5ABC1-00A4-4BB7-9515-E0353AF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Confirm readiness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DF6B2EE-8AAC-4CAB-83F6-E9BC6181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81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B"/>
                </a:solidFill>
              </a:defRPr>
            </a:pPr>
            <a:r>
              <a:rPr sz="1275" b="0">
                <a:solidFill>
                  <a:srgbClr val="5D636B"/>
                </a:solidFill>
              </a:rPr>
              <a:t>Health passes; partitions assigned; Kafka lag is zero.</a:t>
            </a:r>
          </a:p>
        </p:txBody>
      </p:sp>
      <p:cxnSp>
        <p:nvCxnSpPr>
          <p:cNvPr id="156" name="Straight Arrow Connector 99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09850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72FE7D8-6FEB-486C-BCEB-084B44FE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90700"/>
            <a:ext cx="19240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6CC8F85-0F1F-45B5-B018-34DF19DD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9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C3B4FCA-7C26-4F1C-B79E-6D75BE77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Run k6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3FB9ED0-D6BA-4283-9492-B7DEC2C2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81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B"/>
                </a:solidFill>
              </a:defRPr>
            </a:pPr>
            <a:r>
              <a:rPr sz="1275" b="0">
                <a:solidFill>
                  <a:srgbClr val="5D636B"/>
                </a:solidFill>
              </a:rPr>
              <a:t>Submit the standard workload for 30 seconds at target TPS.</a:t>
            </a:r>
          </a:p>
        </p:txBody>
      </p:sp>
      <p:cxnSp>
        <p:nvCxnSpPr>
          <p:cNvPr id="161" name="Straight Arrow Connector 104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62500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C59FE88-3562-419E-9E7E-30713686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19240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712AB35-3A89-4434-B6EE-01ECEFE5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9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2B9177B-40DA-4128-8663-F3C22C47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Drain + verify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AE35278-72F3-43FC-90DD-99337CDE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81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B"/>
                </a:solidFill>
              </a:defRPr>
            </a:pPr>
            <a:r>
              <a:rPr sz="1275" b="0">
                <a:solidFill>
                  <a:srgbClr val="5D636B"/>
                </a:solidFill>
              </a:rPr>
              <a:t>Record unfinished work, lag, SQL checks, and Redis checks.</a:t>
            </a:r>
          </a:p>
        </p:txBody>
      </p:sp>
      <p:cxnSp>
        <p:nvCxnSpPr>
          <p:cNvPr id="166" name="Straight Arrow Connector 109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15150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AE3EAE7-FBF3-410D-887A-72A0DE4B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9240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BF39FD2-F783-4779-9F04-2D341B0F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9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AA3C98F-3B8F-4D24-8B72-66B4FE32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574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Confirm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D853509-67B3-49E4-8380-A3A3D284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81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36B"/>
                </a:solidFill>
              </a:defRPr>
            </a:pPr>
            <a:r>
              <a:rPr sz="1275" b="0">
                <a:solidFill>
                  <a:srgbClr val="5D636B"/>
                </a:solidFill>
              </a:rPr>
              <a:t>Repeat the highest passing rate twice.</a:t>
            </a:r>
          </a:p>
        </p:txBody>
      </p:sp>
      <p:cxnSp>
        <p:nvCxnSpPr>
          <p:cNvPr id="171" name="Straight Arrow Connector 114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067800" y="32766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BCB27E2-0A37-46ED-B6A0-E0DEEF8B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6ECE039-AB6E-495C-BE8D-1A7AA5D3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E4D"/>
                </a:solidFill>
              </a:defRPr>
            </a:pPr>
            <a:r>
              <a:rPr sz="1200" b="1">
                <a:solidFill>
                  <a:srgbClr val="C83E4D"/>
                </a:solidFill>
              </a:rPr>
              <a:t>Critical control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ECDDB7-0622-424F-A46F-4699CA53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784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No application process is reused between measured TPS rates.</a:t>
            </a:r>
          </a:p>
        </p:txBody>
      </p:sp>
    </p:spTree>
    <p:extLst>
      <p:ext uri="{BB962C8B-B14F-4D97-AF65-F5344CB8AC3E}">
        <p14:creationId xmlns:p14="http://schemas.microsoft.com/office/powerpoint/2010/main" val="1507611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05A37BE-685D-4451-911B-D45B893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EXPERIMENTAL RESULTS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7E3399-CD18-41DA-AAF7-D25EDD1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Sustainable TPS increased from 25 to 55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1FD3516-3356-479D-A838-D9630105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51B981-9606-49F1-B91B-8A46FFE0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13 / 17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dfdf4bd1154fa3"/>
          </a:graphicData>
        </a:graphic>
      </p:graphicFrame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27F0E02-0DA9-4413-B6CF-6DE82BDB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F27C1B3-C36B-4997-9C22-3F13573D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43100"/>
            <a:ext cx="245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6DCBF4"/>
                </a:solidFill>
              </a:defRPr>
            </a:pPr>
            <a:r>
              <a:rPr sz="4050" b="1">
                <a:solidFill>
                  <a:srgbClr val="6DCBF4"/>
                </a:solidFill>
              </a:rPr>
              <a:t>+120%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F11091-8622-4E89-8A8F-C83211AD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overall increase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from C0 to C3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172117A-35BB-4AE2-AD6A-89A19CAA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8BCFDB-48A2-4BC6-9522-BD5E0793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36B"/>
                </a:solidFill>
              </a:defRPr>
            </a:pPr>
            <a:r>
              <a:rPr sz="1125" b="1">
                <a:solidFill>
                  <a:srgbClr val="5D636B"/>
                </a:solidFill>
              </a:rPr>
              <a:t>C1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723A7F-5CCC-4435-8DB2-8A09B60A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814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+19.86%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7A9B9B8-1F68-4F32-99F1-978268CC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434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79FB641-9373-4476-AEFB-1A1B5D65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36B"/>
                </a:solidFill>
              </a:defRPr>
            </a:pPr>
            <a:r>
              <a:rPr sz="1125" b="1">
                <a:solidFill>
                  <a:srgbClr val="5D636B"/>
                </a:solidFill>
              </a:rPr>
              <a:t>C2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4FEF256-879F-4CB3-AF24-C9329165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+16.67%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38CD561-A364-4FEF-BCAE-74A67957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91100"/>
            <a:ext cx="2914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75D589A-D0D6-4C5F-AA20-A8847E86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636B"/>
                </a:solidFill>
              </a:defRPr>
            </a:pPr>
            <a:r>
              <a:rPr sz="1125" b="1">
                <a:solidFill>
                  <a:srgbClr val="5D636B"/>
                </a:solidFill>
              </a:rPr>
              <a:t>C3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9FEA00-DF9C-4D99-8101-EAB65231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768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+56.94%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7D7BB19-7BD5-422C-97B8-FF61CDA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636B"/>
                </a:solidFill>
              </a:defRPr>
            </a:pPr>
            <a:r>
              <a:rPr sz="975" b="0">
                <a:solidFill>
                  <a:srgbClr val="5D636B"/>
                </a:solidFill>
              </a:rPr>
              <a:t>Highest passing target TPS; confirmation rows use median completed TPS.</a:t>
            </a:r>
          </a:p>
        </p:txBody>
      </p:sp>
    </p:spTree>
    <p:extLst>
      <p:ext uri="{BB962C8B-B14F-4D97-AF65-F5344CB8AC3E}">
        <p14:creationId xmlns:p14="http://schemas.microsoft.com/office/powerpoint/2010/main" val="5482286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E129562B-1BF0-4D26-9AB4-E59DDA0C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BOUNDARY EVIDENCE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8011822-82AB-4FC6-AC5D-C02E2856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next tested rate failed for every configuration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3E2F1F3-9BED-41C5-BF88-50CFE3DE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4ADF7C7-4DA3-41A8-BC60-3EE60C7D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14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CD7CA-F7C1-45C0-9DD9-B6B05B18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CONFIG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B777034-DC55-4496-B1EE-D8533E20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4859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HIGHEST PASS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262D97-AAEF-429A-AB24-D36DDB61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859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NEAREST FAILURE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781C7E5-0CDB-4468-8B74-74AA26AD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85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36B"/>
                </a:solidFill>
              </a:defRPr>
            </a:pPr>
            <a:r>
              <a:rPr sz="975" b="1">
                <a:solidFill>
                  <a:srgbClr val="5D636B"/>
                </a:solidFill>
              </a:rPr>
              <a:t>WHY IT FAILED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29ED0D-92AE-42AB-9996-E906C2B5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A25AAC0-3849-45C0-AF1B-6F989CE6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9775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DF3C36C-3E20-490E-9D2A-D5DAAAA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66925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C0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9EA2469-1E92-4E09-950A-EFD31C85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9072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D"/>
          </a:solidFill>
          <a:ln xmlns:a="http://schemas.openxmlformats.org/drawingml/2006/main" w="9525">
            <a:solidFill>
              <a:srgbClr val="24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541C462-C4C4-4B64-A323-4086462D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478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8A5A"/>
                </a:solidFill>
              </a:defRPr>
            </a:pPr>
            <a:r>
              <a:rPr sz="1050" b="1">
                <a:solidFill>
                  <a:srgbClr val="248A5A"/>
                </a:solidFill>
              </a:rPr>
              <a:t>PASS  25 TPS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89FC221-DCE1-43F3-8CC5-B053EF20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907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8BCC4"/>
                </a:solidFill>
              </a:defRPr>
            </a:pPr>
            <a:r>
              <a:rPr sz="16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ADA70EDD-58EC-4225-B0C7-D2DDDEDB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9072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9525">
            <a:solidFill>
              <a:srgbClr val="C83E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4D38DA9-1B3C-43F7-BC79-7A48C9E8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478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83E4D"/>
                </a:solidFill>
              </a:defRPr>
            </a:pPr>
            <a:r>
              <a:rPr sz="1050" b="1">
                <a:solidFill>
                  <a:srgbClr val="C83E4D"/>
                </a:solidFill>
              </a:rPr>
              <a:t>FAIL  30 TPS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30F628-8EF6-4716-AAC4-490C6AE0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2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Cash and stock conservation: 3/5 checks passed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0778FC2-B667-43BF-B927-ED131E1F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D1E41002-7E25-4255-8414-36D08280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43225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AA6C404-D620-4110-A2A2-A64A72BF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A40346BA-926F-49EA-8C8D-9D4FE4A8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2417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D"/>
          </a:solidFill>
          <a:ln xmlns:a="http://schemas.openxmlformats.org/drawingml/2006/main" w="9525">
            <a:solidFill>
              <a:srgbClr val="24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CDD74A2-EBEC-40B2-B24B-F9515F9C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8132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8A5A"/>
                </a:solidFill>
              </a:defRPr>
            </a:pPr>
            <a:r>
              <a:rPr sz="1050" b="1">
                <a:solidFill>
                  <a:srgbClr val="248A5A"/>
                </a:solidFill>
              </a:rPr>
              <a:t>PASS  30 TPS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8486DBC-9945-44F9-A300-28A7AD50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241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8BCC4"/>
                </a:solidFill>
              </a:defRPr>
            </a:pPr>
            <a:r>
              <a:rPr sz="16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35F5E1B3-20A5-41E6-971E-3E3795E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2417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9525">
            <a:solidFill>
              <a:srgbClr val="C83E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5232E83-6F05-4B87-8EC7-96C9EF91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8132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83E4D"/>
                </a:solidFill>
              </a:defRPr>
            </a:pPr>
            <a:r>
              <a:rPr sz="1050" b="1">
                <a:solidFill>
                  <a:srgbClr val="C83E4D"/>
                </a:solidFill>
              </a:rPr>
              <a:t>FAIL  35 TPS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89247D9-466E-4E37-B1E9-D1612509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67025"/>
            <a:ext cx="432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52.24% completed; 308 unfinished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A737C98-2FF9-4C01-91A8-8F4AD6D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9EA995DC-D10A-48A8-AFD9-5EAE793B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6667571-97E9-4F0C-9520-0B89D2A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33825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37E70E37-8231-4EA2-B798-8ADF784D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5762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D"/>
          </a:solidFill>
          <a:ln xmlns:a="http://schemas.openxmlformats.org/drawingml/2006/main" w="9525">
            <a:solidFill>
              <a:srgbClr val="24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3F77CE2-3357-4F9A-B88D-7BA6DAA1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147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8A5A"/>
                </a:solidFill>
              </a:defRPr>
            </a:pPr>
            <a:r>
              <a:rPr sz="1050" b="1">
                <a:solidFill>
                  <a:srgbClr val="248A5A"/>
                </a:solidFill>
              </a:rPr>
              <a:t>PASS  35 TPS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DEFC0B4-8844-41C2-AB7D-04A5949B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57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8BCC4"/>
                </a:solidFill>
              </a:defRPr>
            </a:pPr>
            <a:r>
              <a:rPr sz="16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27C1B145-3C44-4225-9D5D-3FAC4130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5762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9525">
            <a:solidFill>
              <a:srgbClr val="C83E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E3C98458-1A54-42FB-92DC-ED8BBFC3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1477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83E4D"/>
                </a:solidFill>
              </a:defRPr>
            </a:pPr>
            <a:r>
              <a:rPr sz="1050" b="1">
                <a:solidFill>
                  <a:srgbClr val="C83E4D"/>
                </a:solidFill>
              </a:rPr>
              <a:t>FAIL  40 TPS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8D0ECBA-C175-4909-83B2-E04B3CE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432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73.67% completed in repeatability run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E8640038-C19C-490F-B39E-C7956B22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0FC93799-1068-42A5-B7B6-57A657A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647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26E0ECA5-848F-4ADC-8F7E-10130A34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67275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86915B54-2E28-4BCD-A9FD-AB5AAFF5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9107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ED"/>
          </a:solidFill>
          <a:ln xmlns:a="http://schemas.openxmlformats.org/drawingml/2006/main" w="9525">
            <a:solidFill>
              <a:srgbClr val="24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6B9FCB6-3EA0-4DA4-8B2D-B18163E8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4822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48A5A"/>
                </a:solidFill>
              </a:defRPr>
            </a:pPr>
            <a:r>
              <a:rPr sz="1050" b="1">
                <a:solidFill>
                  <a:srgbClr val="248A5A"/>
                </a:solidFill>
              </a:rPr>
              <a:t>PASS  55 TPS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4566BAD2-7250-4CCA-8805-0798C9F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910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8BCC4"/>
                </a:solidFill>
              </a:defRPr>
            </a:pPr>
            <a:r>
              <a:rPr sz="16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42" name="Rectangle: Rounded Corners 41">
            <a:extLst xmlns:a="http://schemas.openxmlformats.org/drawingml/2006/main">
              <a:ext uri="{FF2B5EF4-FFF2-40B4-BE49-F238E27FC236}">
                <a16:creationId xmlns:a16="http://schemas.microsoft.com/office/drawing/2014/main" id="{63CCE592-D6D0-4A5C-BCBD-6EA0F98C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9107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9525">
            <a:solidFill>
              <a:srgbClr val="C83E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E7326D2A-B5A5-4402-9904-D624B73F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48225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83E4D"/>
                </a:solidFill>
              </a:defRPr>
            </a:pPr>
            <a:r>
              <a:rPr sz="1050" b="1">
                <a:solidFill>
                  <a:srgbClr val="C83E4D"/>
                </a:solidFill>
              </a:rPr>
              <a:t>FAIL  60 TPS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65AF91A9-15C4-423A-8A3A-BF790A30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33925"/>
            <a:ext cx="432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96.78% completed—below the 98% rule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7370679E-9DB0-4CD9-90EA-9F995C96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6575989-D877-4503-8B51-54CA0C8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The score is the confirmed passing boundary—not the fastest rate attempted.</a:t>
            </a:r>
          </a:p>
        </p:txBody>
      </p:sp>
    </p:spTree>
    <p:extLst>
      <p:ext uri="{BB962C8B-B14F-4D97-AF65-F5344CB8AC3E}">
        <p14:creationId xmlns:p14="http://schemas.microsoft.com/office/powerpoint/2010/main" val="1894494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0BCB61B-F0D6-44A2-8CE5-2ABB4711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DISCUSSION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3E25F9-6ABB-421E-A560-1B5E73AF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Each improvement exposed the next constraint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E54B696B-2A7F-446A-AAD0-79B95344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7515AD7-D7F5-4DE8-9543-EC605E49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15 / 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D210BA2-1992-4490-9A37-02F87CA1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438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7EB1854-E596-4BFE-803D-5EF67FF8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C0 · 25 TPS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55253EB-D3B6-4B70-9619-1A4A28BD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Correctness boundary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F289A34-A2E5-40D5-A648-D0DEEF73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B"/>
                </a:solidFill>
              </a:defRPr>
            </a:pPr>
            <a:r>
              <a:rPr sz="1200" b="0">
                <a:solidFill>
                  <a:srgbClr val="5D636B"/>
                </a:solidFill>
              </a:rPr>
              <a:t>Synchronous database path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C1FD76D-55FB-4A39-94D7-ACB82F54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2438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618D95-915F-4CEE-8661-FA3D9B17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24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C1 · 30 TPS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0812F9B-27EC-4C1D-BF12-A093F0F6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Matching backlog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D4D83AA-079F-41AE-A6A6-8EA601A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B"/>
                </a:solidFill>
              </a:defRPr>
            </a:pPr>
            <a:r>
              <a:rPr sz="1200" b="0">
                <a:solidFill>
                  <a:srgbClr val="5D636B"/>
                </a:solidFill>
              </a:rPr>
              <a:t>Database-backed matching</a:t>
            </a:r>
          </a:p>
        </p:txBody>
      </p:sp>
      <p:cxnSp>
        <p:nvCxnSpPr>
          <p:cNvPr id="134" name="Straight Arrow Connector 87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27717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ACFC3E7-1E77-4AB2-9D7A-ECBE0784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2438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BFE67C-C3B1-4FAA-9E97-36859A54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C2 · 35 TPS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A6D115A-91EF-466F-A5DE-4229E350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Finance bottleneck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21556D5-CBF9-4D7F-9D92-F30E32DB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B"/>
                </a:solidFill>
              </a:defRPr>
            </a:pPr>
            <a:r>
              <a:rPr sz="1200" b="0">
                <a:solidFill>
                  <a:srgbClr val="5D636B"/>
                </a:solidFill>
              </a:rPr>
              <a:t>Reservation and settlement</a:t>
            </a:r>
          </a:p>
        </p:txBody>
      </p:sp>
      <p:cxnSp>
        <p:nvCxnSpPr>
          <p:cNvPr id="139" name="Straight Arrow Connector 92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67400" y="27717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7C3D161-B78F-40AF-A598-AE27614B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438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75DC396-485A-4780-AB1F-170D85AF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C3 · 55 TPS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40D1EF7-5390-43E4-B6D3-CBDDB430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201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Window boundary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93F1953-027A-4771-8866-96628D8F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36B"/>
                </a:solidFill>
              </a:defRPr>
            </a:pPr>
            <a:r>
              <a:rPr sz="1200" b="0">
                <a:solidFill>
                  <a:srgbClr val="5D636B"/>
                </a:solidFill>
              </a:rPr>
              <a:t>60 TPS reached 96.78%</a:t>
            </a:r>
          </a:p>
        </p:txBody>
      </p:sp>
      <p:cxnSp>
        <p:nvCxnSpPr>
          <p:cNvPr id="144" name="Straight Arrow Connector 97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610600" y="27717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581591F-9ABC-4B50-B5F2-F2C1710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ED"/>
          </a:solidFill>
          <a:ln xmlns:a="http://schemas.openxmlformats.org/drawingml/2006/main" w="9525">
            <a:solidFill>
              <a:srgbClr val="24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625BAA1-126A-45B8-BA08-B105BB65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48A5A"/>
                </a:solidFill>
              </a:defRPr>
            </a:pPr>
            <a:r>
              <a:rPr sz="1050" b="1">
                <a:solidFill>
                  <a:srgbClr val="248A5A"/>
                </a:solidFill>
              </a:rPr>
              <a:t>WHY THE COMPARISON IS RELIABLE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494B025-7123-4EA1-AF7B-34487819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Same workload and pass rules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Fresh application runs at every rate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Confirmation repeats and correctness checks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71EB99C-8040-400C-B6A9-2B021DC7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5219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7"/>
          </a:solidFill>
          <a:ln xmlns:a="http://schemas.openxmlformats.org/drawingml/2006/main" w="9525">
            <a:solidFill>
              <a:srgbClr val="A767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2B9B1FD-076A-4BED-93B1-F5CEE72E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76700"/>
                </a:solidFill>
              </a:defRPr>
            </a:pPr>
            <a:r>
              <a:rPr sz="1050" b="1">
                <a:solidFill>
                  <a:srgbClr val="A76700"/>
                </a:solidFill>
              </a:rPr>
              <a:t>WHAT THE RESULT DOES NOT CLAIM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BE697E8-3169-4ECD-8BE0-37FB56FA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One synthetic workload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One local machine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Thirty-second measurement windows</a:t>
            </a:r>
          </a:p>
        </p:txBody>
      </p:sp>
    </p:spTree>
    <p:extLst>
      <p:ext uri="{BB962C8B-B14F-4D97-AF65-F5344CB8AC3E}">
        <p14:creationId xmlns:p14="http://schemas.microsoft.com/office/powerpoint/2010/main" val="11462801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FF7D177-3329-440A-A2CB-48B34AC1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RESEARCH PLAN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10838D-80B4-49C7-AB06-E9CC8B74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Six weeks from preparation to submission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75356132-7634-49D4-B218-AAD8673F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142A09-7620-41C3-AC8E-389DCA24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16 / 17</a:t>
            </a:r>
          </a:p>
        </p:txBody>
      </p:sp>
      <p:pic>
        <p:nvPicPr>
          <p:cNvPr id="14" name="Graphic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1119a78c247ae">
            <a:extLst>
              <a:ext uri="{96DAC541-7B7A-43D3-8B79-37D633B846F1}">
                <asvg:svgBlip xmlns:asvg="http://schemas.microsoft.com/office/drawing/2016/SVG/main" r:embed="R70dc0bd814d946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43050"/>
            <a:ext cx="108204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D3AE7B5-B944-4085-8249-4335916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12A986-A84E-49C1-BD5A-5AA49C8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Weeks 1–2: prepare + baseline     ·     Weeks 3–5: implement + evaluate     ·     Week 6: review + submit</a:t>
            </a:r>
          </a:p>
        </p:txBody>
      </p:sp>
    </p:spTree>
    <p:extLst>
      <p:ext uri="{BB962C8B-B14F-4D97-AF65-F5344CB8AC3E}">
        <p14:creationId xmlns:p14="http://schemas.microsoft.com/office/powerpoint/2010/main" val="18310705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986C494-DA32-4D6B-8CE6-DE12302D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FINAL ANSWER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C0E503-EAC4-4399-AF3F-D484A23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End-to-end measurement guided the system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from a 25 TPS baseline to a verified 55 TPS.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7725B85-71B6-4204-81D3-F1E38F81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25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3A8C2C-94BD-4832-815B-926B51A1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D636B"/>
                </a:solidFill>
              </a:defRPr>
            </a:pPr>
            <a:r>
              <a:rPr sz="1500" b="1">
                <a:solidFill>
                  <a:srgbClr val="5D636B"/>
                </a:solidFill>
              </a:rPr>
              <a:t>TPS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A7D3FEC-ABAE-4D67-B4C6-7E93B220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866BCA-048B-4A15-AA9D-C7C3C17B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5550" b="1">
                <a:solidFill>
                  <a:srgbClr val="3D8DFF"/>
                </a:solidFill>
              </a:defRPr>
            </a:pPr>
            <a:r>
              <a:rPr sz="5550" b="1">
                <a:solidFill>
                  <a:srgbClr val="3D8DFF"/>
                </a:solidFill>
              </a:rPr>
              <a:t>55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6D9268-B552-4010-93F4-E559A202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D636B"/>
                </a:solidFill>
              </a:defRPr>
            </a:pPr>
            <a:r>
              <a:rPr sz="1500" b="1">
                <a:solidFill>
                  <a:srgbClr val="5D636B"/>
                </a:solidFill>
              </a:rPr>
              <a:t>TPS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4D303DD-5086-4B1E-BC47-CE187006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6165DE7-7E8D-494C-A5ED-75EF58C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24175"/>
            <a:ext cx="1276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+120%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86DBC40-F72F-4472-8F4B-0B59BF03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392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FAF6B7-34B9-46AE-9F17-FCF7958B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31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RQ1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F212BA0-F662-40B5-AA82-F2AE8228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146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C0 sustained 25 TPS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E927F9-6EF6-408B-8020-EF37F49C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09950"/>
            <a:ext cx="392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3BFD2D5-E324-4563-B5AD-E9C6218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528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RQ2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2789771-A640-4739-BABB-C13791D0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Kafka, memory, and Redis each increased the verified boundary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E4B900C-C53A-4BDC-B561-78868655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19600"/>
            <a:ext cx="392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F98BB3A-1832-4E74-9CE2-ABBF2EEC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6247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RQ3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7BC5D97-207D-4C0A-B733-04E8CE11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339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C3 achieved the highest verified target: 55 TPS</a:t>
            </a:r>
          </a:p>
        </p:txBody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99148FA8-153F-4E06-91C6-ADE8052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645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C589B13-3E99-492F-B1F7-6AEF5209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Optimise one bottleneck. Measure the complete path again.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Accept the gain only when stability and correctness remain intact.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43DEE76-944E-41BC-AF93-BEA9966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76925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Questions?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E07B31F-6C93-412C-BBDD-6B7F0F53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579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D636B"/>
                </a:solidFill>
              </a:defRPr>
            </a:pPr>
            <a:r>
              <a:rPr sz="900" b="0">
                <a:solidFill>
                  <a:srgbClr val="5D636B"/>
                </a:solidFill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5263450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2026-08-21T14:59:02.9280000Z</dcterms:created>
  <dcterms:modified xsi:type="dcterms:W3CDTF">2026-08-21T14:59:02.9280000Z</dcterms:modified>
</coreProperties>
</file>